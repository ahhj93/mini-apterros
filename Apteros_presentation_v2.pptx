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4.png" ContentType="image/png"/>
  <Override PartName="/ppt/media/image3.jpeg" ContentType="image/jpe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4388014-CDD0-4E72-8356-7A4AF659532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47E4BB-464F-4377-8D97-E126EC90430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 : Notice de fonctionnement Mini-Apterros ENSEA (2024), p. 4.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protocole vise le décollage, une montée à 1 m, un déplacement latéral de 3 m et un atterrissage contrôlé.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Synthèse matérielle reconstruite à partir de la version ODP fournie par João.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Composants et emplacement : Notice de fonctionnement Mini-Apterros ENSEA (2024), pp. 4-6.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 : Notice de fonctionnement Mini-Apterros ENSEA (2024), pp. 4-5.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 structure comporte trois étages reliés par des tubes en aluminium.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Sources : Notice de fonctionnement Mini-Apterros ENSEA (2024), pp. 6-16.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Les figures montrent la disposition des lidars et des turbines. Les descriptions résument les sections Lidar, Turbines, ESC, Centrale inertielle, Moteurs CC et Capteurs Hall.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contrôleur est volontairement présenté de manière générique, car le modèle initial sera remplacé.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Source : Notice de fonctionnement Mini-Apterros ENSEA (2024), pp. 5-6.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L'inclinaison du plateau est assurée par deux mécanismes bielle-manivelle, ce qui permet une orientation dans deux directions.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Les composantes F cos(alpha) et F sin(alpha) explicitent la décomposition de la poussée après inclinaison.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"/>
          <p:cNvPicPr/>
          <p:nvPr/>
        </p:nvPicPr>
        <p:blipFill>
          <a:blip r:embed="rId1"/>
          <a:stretch/>
        </p:blipFill>
        <p:spPr>
          <a:xfrm>
            <a:off x="5639040" y="167400"/>
            <a:ext cx="6366600" cy="3580920"/>
          </a:xfrm>
          <a:prstGeom prst="rect">
            <a:avLst/>
          </a:prstGeom>
          <a:ln w="0">
            <a:noFill/>
          </a:ln>
        </p:spPr>
      </p:pic>
      <p:sp>
        <p:nvSpPr>
          <p:cNvPr id="9" name="Text 30"/>
          <p:cNvSpPr/>
          <p:nvPr/>
        </p:nvSpPr>
        <p:spPr>
          <a:xfrm>
            <a:off x="640080" y="2331720"/>
            <a:ext cx="77716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APTEROS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32"/>
          <p:cNvSpPr/>
          <p:nvPr/>
        </p:nvSpPr>
        <p:spPr>
          <a:xfrm>
            <a:off x="640080" y="3246120"/>
            <a:ext cx="79545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cadcfc"/>
                </a:solidFill>
                <a:latin typeface="Calibri"/>
                <a:ea typeface="Calibri"/>
              </a:rPr>
              <a:t>Simulation et commande d'un engin à décollage vertical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4"/>
          <p:cNvSpPr/>
          <p:nvPr/>
        </p:nvSpPr>
        <p:spPr>
          <a:xfrm>
            <a:off x="640080" y="3886200"/>
            <a:ext cx="758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Un seul degré de liberté commandé : l'altitude (Z).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Les cinq autres — x, y, roulis, tangage, lacet — sont maintenus à zéro.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0"/>
          <p:cNvSpPr/>
          <p:nvPr/>
        </p:nvSpPr>
        <p:spPr>
          <a:xfrm>
            <a:off x="229320" y="580716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Bryan-Sowanna Ing </a:t>
            </a: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—  ENSEA</a:t>
            </a:r>
            <a:endParaRPr b="0" lang="en-US" sz="13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Margaux Laplante —  ENSEA</a:t>
            </a:r>
            <a:endParaRPr b="0" lang="en-US" sz="13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Sara Bailleul —  ENSEA</a:t>
            </a:r>
            <a:endParaRPr b="0" lang="en-US" sz="13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Julien Thomas  —  ENSEA</a:t>
            </a:r>
            <a:endParaRPr b="0" lang="en-US" sz="13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e7fa3"/>
                </a:solidFill>
                <a:latin typeface="Calibri"/>
                <a:ea typeface="Calibri"/>
              </a:rPr>
              <a:t>João Cerqueira — ENSEA</a:t>
            </a:r>
            <a:endParaRPr b="0" lang="en-US" sz="1300" spc="-1" strike="noStrike">
              <a:solidFill>
                <a:srgbClr val="ffffff"/>
              </a:solidFill>
              <a:latin typeface="Arial"/>
              <a:ea typeface="Noto Sans CJK SC"/>
            </a:endParaRPr>
          </a:p>
        </p:txBody>
      </p:sp>
      <p:sp>
        <p:nvSpPr>
          <p:cNvPr id="13" name="AutoShape 3"/>
          <p:cNvSpPr/>
          <p:nvPr/>
        </p:nvSpPr>
        <p:spPr>
          <a:xfrm>
            <a:off x="5943600" y="1112400"/>
            <a:ext cx="246816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" name="Picture 2" descr="Projet MINI-APTERROS - Centre Spatial Universitaire de Nouvelle-Aquitaine"/>
          <p:cNvPicPr/>
          <p:nvPr/>
        </p:nvPicPr>
        <p:blipFill>
          <a:blip r:embed="rId2"/>
          <a:srcRect l="40571" t="41091" r="39868" b="33988"/>
          <a:stretch/>
        </p:blipFill>
        <p:spPr>
          <a:xfrm>
            <a:off x="9875520" y="3429000"/>
            <a:ext cx="1823040" cy="32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ission-photo-panel-v4"/>
          <p:cNvSpPr/>
          <p:nvPr/>
        </p:nvSpPr>
        <p:spPr>
          <a:xfrm>
            <a:off x="7810560" y="1324080"/>
            <a:ext cx="3618720" cy="5009400"/>
          </a:xfrm>
          <a:prstGeom prst="roundRect">
            <a:avLst>
              <a:gd name="adj" fmla="val 2105"/>
            </a:avLst>
          </a:prstGeom>
          <a:solidFill>
            <a:srgbClr val="eaf1fd"/>
          </a:solidFill>
          <a:ln w="0">
            <a:solidFill>
              <a:srgbClr val="eaf1f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295880" y="1752480"/>
            <a:ext cx="3801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295880" y="2419200"/>
            <a:ext cx="3801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295880" y="3314880"/>
            <a:ext cx="3801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666800" y="1866960"/>
            <a:ext cx="5142960" cy="589680"/>
          </a:xfrm>
          <a:prstGeom prst="roundRect">
            <a:avLst>
              <a:gd name="adj" fmla="val 12903"/>
            </a:avLst>
          </a:prstGeom>
          <a:solidFill>
            <a:srgbClr val="ffede5"/>
          </a:solidFill>
          <a:ln w="0">
            <a:solidFill>
              <a:srgbClr val="ffede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000160" y="2009880"/>
            <a:ext cx="44758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Décollage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mission-step-number-2-v4"/>
          <p:cNvSpPr/>
          <p:nvPr/>
        </p:nvSpPr>
        <p:spPr>
          <a:xfrm>
            <a:off x="990720" y="2943360"/>
            <a:ext cx="399240" cy="20880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666800" y="2771640"/>
            <a:ext cx="5142960" cy="589680"/>
          </a:xfrm>
          <a:prstGeom prst="roundRect">
            <a:avLst>
              <a:gd name="adj" fmla="val 12903"/>
            </a:avLst>
          </a:prstGeom>
          <a:solidFill>
            <a:srgbClr val="eaf1fd"/>
          </a:solidFill>
          <a:ln w="0">
            <a:solidFill>
              <a:srgbClr val="eaf1f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2000160" y="2914560"/>
            <a:ext cx="44758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Montée à 1 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666800" y="3676680"/>
            <a:ext cx="5142960" cy="589680"/>
          </a:xfrm>
          <a:prstGeom prst="roundRect">
            <a:avLst>
              <a:gd name="adj" fmla="val 12903"/>
            </a:avLst>
          </a:prstGeom>
          <a:solidFill>
            <a:srgbClr val="f1f1f3"/>
          </a:solidFill>
          <a:ln w="0">
            <a:solidFill>
              <a:srgbClr val="f1f1f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2000160" y="3819600"/>
            <a:ext cx="44758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Déplacement latéral de 3 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mission-step-number-4-v4"/>
          <p:cNvSpPr/>
          <p:nvPr/>
        </p:nvSpPr>
        <p:spPr>
          <a:xfrm>
            <a:off x="990720" y="4753080"/>
            <a:ext cx="399240" cy="20880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666800" y="4581360"/>
            <a:ext cx="5142960" cy="589680"/>
          </a:xfrm>
          <a:prstGeom prst="roundRect">
            <a:avLst>
              <a:gd name="adj" fmla="val 12903"/>
            </a:avLst>
          </a:prstGeom>
          <a:solidFill>
            <a:srgbClr val="ffede5"/>
          </a:solidFill>
          <a:ln w="0">
            <a:solidFill>
              <a:srgbClr val="ffede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000160" y="4724280"/>
            <a:ext cx="44758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0b1b33"/>
                </a:solidFill>
                <a:latin typeface="Calibri"/>
                <a:ea typeface="Calibri"/>
              </a:rPr>
              <a:t>Atterrissage contrôlé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rcRect l="4980" t="0" r="4980" b="0"/>
          <a:stretch/>
        </p:blipFill>
        <p:spPr>
          <a:xfrm>
            <a:off x="8020080" y="1476360"/>
            <a:ext cx="3161520" cy="4695120"/>
          </a:xfrm>
          <a:prstGeom prst="rect">
            <a:avLst/>
          </a:prstGeom>
          <a:ln w="0">
            <a:noFill/>
          </a:ln>
        </p:spPr>
      </p:pic>
      <p:sp>
        <p:nvSpPr>
          <p:cNvPr id="30" name="title"/>
          <p:cNvSpPr/>
          <p:nvPr/>
        </p:nvSpPr>
        <p:spPr>
          <a:xfrm>
            <a:off x="514440" y="304920"/>
            <a:ext cx="67618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0b1b33"/>
                </a:solidFill>
                <a:latin typeface="Cambria"/>
                <a:ea typeface="Cambria"/>
              </a:rPr>
              <a:t>Mission du Mini-Apterros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mission-subtitle-v4"/>
          <p:cNvSpPr/>
          <p:nvPr/>
        </p:nvSpPr>
        <p:spPr>
          <a:xfrm>
            <a:off x="514440" y="933480"/>
            <a:ext cx="6571440" cy="28512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5b6472"/>
                </a:solidFill>
                <a:latin typeface="Calibri"/>
                <a:ea typeface="Calibri"/>
              </a:rPr>
              <a:t>Le vol à réaliser est défini par une trajectoire en quatre étapes.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mission-sequence-label-v4"/>
          <p:cNvSpPr/>
          <p:nvPr/>
        </p:nvSpPr>
        <p:spPr>
          <a:xfrm>
            <a:off x="1666800" y="1495440"/>
            <a:ext cx="2380680" cy="20880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b24a1e"/>
                </a:solidFill>
                <a:latin typeface="Calibri"/>
                <a:ea typeface="Calibri"/>
              </a:rPr>
              <a:t>SÉQUENCE À DÉMONTRER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mission-photo-caption-v4"/>
          <p:cNvSpPr/>
          <p:nvPr/>
        </p:nvSpPr>
        <p:spPr>
          <a:xfrm>
            <a:off x="8020080" y="6276960"/>
            <a:ext cx="3161520" cy="20880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Mini-Apterros, engin à décollage vertical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Objectif : un mouvement, cinq contraintes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457200" y="1005840"/>
            <a:ext cx="11246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L'engin possède 6 degrés de liberté (3 translations, 3 rotations). Le cahier des charges n'en autorise qu'un seul à varier 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457200" y="1691640"/>
            <a:ext cx="3519720" cy="1965240"/>
          </a:xfrm>
          <a:prstGeom prst="roundRect">
            <a:avLst>
              <a:gd name="adj" fmla="val 4186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658440" y="1819800"/>
            <a:ext cx="91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6b35"/>
                </a:solidFill>
                <a:latin typeface="Cambria"/>
                <a:ea typeface="Cambria"/>
              </a:rPr>
              <a:t>Z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1508760" y="18745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Altitude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658440" y="2606040"/>
            <a:ext cx="3117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24a1e"/>
                </a:solidFill>
                <a:latin typeface="Calibri"/>
                <a:ea typeface="Calibri"/>
              </a:rPr>
              <a:t>Consigne libre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4233600" y="1691640"/>
            <a:ext cx="3519720" cy="196524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4434840" y="1819800"/>
            <a:ext cx="91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x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5285160" y="18745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Position latérale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4434840" y="2606040"/>
            <a:ext cx="3117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(non mesurée / indirecte)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8010000" y="1691640"/>
            <a:ext cx="3519720" cy="196524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8211240" y="1819800"/>
            <a:ext cx="91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y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9061560" y="18745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Position latérale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8211240" y="2606040"/>
            <a:ext cx="3117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(non mesurée / indirecte)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457200" y="3950280"/>
            <a:ext cx="3519720" cy="196524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58440" y="4078080"/>
            <a:ext cx="91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φ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1508760" y="41331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Roulis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58440" y="4864680"/>
            <a:ext cx="3117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— turbines différentielles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1"/>
          <p:cNvSpPr/>
          <p:nvPr/>
        </p:nvSpPr>
        <p:spPr>
          <a:xfrm>
            <a:off x="4233600" y="3950280"/>
            <a:ext cx="3519720" cy="196524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4434840" y="4078080"/>
            <a:ext cx="91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θ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5285160" y="41331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Tangage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4434840" y="4864680"/>
            <a:ext cx="3117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— plateau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5"/>
          <p:cNvSpPr/>
          <p:nvPr/>
        </p:nvSpPr>
        <p:spPr>
          <a:xfrm>
            <a:off x="8010000" y="3950280"/>
            <a:ext cx="3519720" cy="1965240"/>
          </a:xfrm>
          <a:prstGeom prst="roundRect">
            <a:avLst>
              <a:gd name="adj" fmla="val 4186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8211240" y="4078080"/>
            <a:ext cx="913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8a93a6"/>
                </a:solidFill>
                <a:latin typeface="Cambria"/>
                <a:ea typeface="Cambria"/>
              </a:rPr>
              <a:t>ψ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9061560" y="41331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Lacet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8211240" y="4864680"/>
            <a:ext cx="3117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Cible : 0 — plateau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Vue d'ensemble : de la mesure à la poussée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457200" y="1417320"/>
            <a:ext cx="2449800" cy="2879640"/>
          </a:xfrm>
          <a:prstGeom prst="roundRect">
            <a:avLst>
              <a:gd name="adj" fmla="val 2985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658440" y="1563480"/>
            <a:ext cx="204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Capteurs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658440" y="1947600"/>
            <a:ext cx="2047680" cy="22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IMU Xsens : φ, θ, ψ + gyro + accél.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2 lidars : altitude Z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2 capteurs Hall : angle des 2 plateaux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3255120" y="1417320"/>
            <a:ext cx="2449800" cy="2879640"/>
          </a:xfrm>
          <a:prstGeom prst="roundRect">
            <a:avLst>
              <a:gd name="adj" fmla="val 2985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3456360" y="1563480"/>
            <a:ext cx="204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Régulateurs (PID)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3456360" y="1947600"/>
            <a:ext cx="2047680" cy="22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 Altitude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 Roulis, Tangage, Lacet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 position × 2 (plateaux)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6053400" y="1417320"/>
            <a:ext cx="2449800" cy="2879640"/>
          </a:xfrm>
          <a:prstGeom prst="roundRect">
            <a:avLst>
              <a:gd name="adj" fmla="val 2985"/>
            </a:avLst>
          </a:prstGeom>
          <a:solidFill>
            <a:srgbClr val="e9ec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6254640" y="1563480"/>
            <a:ext cx="204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Actionneurs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6254640" y="1947600"/>
            <a:ext cx="2047680" cy="22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3 turbines (poussée + roulis)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2 moteurs CC (plateaux 1 et 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8851320" y="1417320"/>
            <a:ext cx="2449800" cy="2879640"/>
          </a:xfrm>
          <a:prstGeom prst="roundRect">
            <a:avLst>
              <a:gd name="adj" fmla="val 2985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9052560" y="1563480"/>
            <a:ext cx="204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Système physique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9052560" y="1947600"/>
            <a:ext cx="2047680" cy="22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Corps de l'engin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Dynamique Z, φ, θ, ψ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+ x, y en conséquence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2907720" y="2857320"/>
            <a:ext cx="347400" cy="360"/>
          </a:xfrm>
          <a:prstGeom prst="line">
            <a:avLst/>
          </a:prstGeom>
          <a:ln w="22225">
            <a:solidFill>
              <a:srgbClr val="0b1b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7"/>
          <p:cNvSpPr/>
          <p:nvPr/>
        </p:nvSpPr>
        <p:spPr>
          <a:xfrm>
            <a:off x="5705640" y="2857320"/>
            <a:ext cx="347400" cy="360"/>
          </a:xfrm>
          <a:prstGeom prst="line">
            <a:avLst/>
          </a:prstGeom>
          <a:ln w="22225">
            <a:solidFill>
              <a:srgbClr val="0b1b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8"/>
          <p:cNvSpPr/>
          <p:nvPr/>
        </p:nvSpPr>
        <p:spPr>
          <a:xfrm>
            <a:off x="8503920" y="2857320"/>
            <a:ext cx="347400" cy="360"/>
          </a:xfrm>
          <a:prstGeom prst="line">
            <a:avLst/>
          </a:prstGeom>
          <a:ln w="22225">
            <a:solidFill>
              <a:srgbClr val="0b1b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0"/>
          <p:cNvSpPr/>
          <p:nvPr/>
        </p:nvSpPr>
        <p:spPr>
          <a:xfrm>
            <a:off x="10076400" y="4983480"/>
            <a:ext cx="360" cy="360"/>
          </a:xfrm>
          <a:prstGeom prst="line">
            <a:avLst/>
          </a:prstGeom>
          <a:ln w="22225">
            <a:solidFill>
              <a:srgbClr val="8a93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1682280" y="4983480"/>
            <a:ext cx="360" cy="360"/>
          </a:xfrm>
          <a:prstGeom prst="line">
            <a:avLst/>
          </a:prstGeom>
          <a:ln w="22225">
            <a:solidFill>
              <a:srgbClr val="8a93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1682640" y="4690800"/>
            <a:ext cx="8393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boucle de mesure — pas Ts = 10 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Connecteur : en angle 26"/>
          <p:cNvCxnSpPr>
            <a:stCxn id="77" idx="2"/>
          </p:cNvCxnSpPr>
          <p:nvPr/>
        </p:nvCxnSpPr>
        <p:spPr>
          <a:xfrm rot="5400000">
            <a:off x="5139000" y="650520"/>
            <a:ext cx="1290600" cy="8583840"/>
          </a:xfrm>
          <a:prstGeom prst="bentConnector3">
            <a:avLst>
              <a:gd name="adj1" fmla="val 100000"/>
            </a:avLst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88" name="Connecteur droit avec flèche 29"/>
          <p:cNvCxnSpPr/>
          <p:nvPr/>
        </p:nvCxnSpPr>
        <p:spPr>
          <a:xfrm flipV="1">
            <a:off x="1492920" y="4297680"/>
            <a:ext cx="720" cy="128988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Vue d'ensemble : de la mesure à la poussée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axis-badge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axis-badge-text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axis-scope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ontroller"/>
          <p:cNvSpPr/>
          <p:nvPr/>
        </p:nvSpPr>
        <p:spPr>
          <a:xfrm>
            <a:off x="4924440" y="1390680"/>
            <a:ext cx="2342520" cy="58968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Carte de contrôle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apteurs"/>
          <p:cNvSpPr/>
          <p:nvPr/>
        </p:nvSpPr>
        <p:spPr>
          <a:xfrm>
            <a:off x="2266920" y="2895480"/>
            <a:ext cx="2018520" cy="175176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CAPTEURS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438280" y="3457440"/>
            <a:ext cx="16758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Xsens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Lidars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Hall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actionneurs"/>
          <p:cNvSpPr/>
          <p:nvPr/>
        </p:nvSpPr>
        <p:spPr>
          <a:xfrm>
            <a:off x="4857840" y="2895480"/>
            <a:ext cx="2247120" cy="175176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ACTIONNEURS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029200" y="3457440"/>
            <a:ext cx="19044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Turbines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de poussée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Turbines roulis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MCC plateau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uissance"/>
          <p:cNvSpPr/>
          <p:nvPr/>
        </p:nvSpPr>
        <p:spPr>
          <a:xfrm>
            <a:off x="7829640" y="2895480"/>
            <a:ext cx="2018520" cy="1751760"/>
          </a:xfrm>
          <a:prstGeom prst="rect">
            <a:avLst/>
          </a:prstGeom>
          <a:solidFill>
            <a:srgbClr val="ffffff"/>
          </a:solidFill>
          <a:ln w="13335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PUISSANCE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001000" y="3457440"/>
            <a:ext cx="16758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ESC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Batteries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ontroller-trunk"/>
          <p:cNvSpPr/>
          <p:nvPr/>
        </p:nvSpPr>
        <p:spPr>
          <a:xfrm>
            <a:off x="6095880" y="1981080"/>
            <a:ext cx="360" cy="45720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hardware-branch"/>
          <p:cNvSpPr/>
          <p:nvPr/>
        </p:nvSpPr>
        <p:spPr>
          <a:xfrm>
            <a:off x="3276360" y="2428560"/>
            <a:ext cx="5629320" cy="36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ensor-branch"/>
          <p:cNvSpPr/>
          <p:nvPr/>
        </p:nvSpPr>
        <p:spPr>
          <a:xfrm>
            <a:off x="3276360" y="2428560"/>
            <a:ext cx="360" cy="46692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actuator-branch"/>
          <p:cNvSpPr/>
          <p:nvPr/>
        </p:nvSpPr>
        <p:spPr>
          <a:xfrm>
            <a:off x="5981400" y="2428560"/>
            <a:ext cx="360" cy="46692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ower-branch"/>
          <p:cNvSpPr/>
          <p:nvPr/>
        </p:nvSpPr>
        <p:spPr>
          <a:xfrm>
            <a:off x="8839080" y="2428560"/>
            <a:ext cx="360" cy="466920"/>
          </a:xfrm>
          <a:prstGeom prst="line">
            <a:avLst/>
          </a:prstGeom>
          <a:ln w="15240">
            <a:solidFill>
              <a:srgbClr val="0b1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footer-number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"/>
          <p:cNvSpPr/>
          <p:nvPr/>
        </p:nvSpPr>
        <p:spPr>
          <a:xfrm>
            <a:off x="457200" y="292680"/>
            <a:ext cx="8762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Le système physique du Mini-Apterros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57200" y="971640"/>
            <a:ext cx="8571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5b6472"/>
                </a:solidFill>
                <a:latin typeface="Calibri"/>
                <a:ea typeface="Calibri"/>
              </a:rPr>
              <a:t>La fusée réunit structure, mesure, énergie et actionnement.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23800" y="1504800"/>
            <a:ext cx="3904560" cy="4618800"/>
          </a:xfrm>
          <a:prstGeom prst="roundRect">
            <a:avLst>
              <a:gd name="adj" fmla="val 1951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Étage supérieur"/>
          <p:cNvSpPr/>
          <p:nvPr/>
        </p:nvSpPr>
        <p:spPr>
          <a:xfrm>
            <a:off x="4952880" y="1523880"/>
            <a:ext cx="6381000" cy="913680"/>
          </a:xfrm>
          <a:prstGeom prst="roundRect">
            <a:avLst>
              <a:gd name="adj" fmla="val 8333"/>
            </a:avLst>
          </a:prstGeom>
          <a:solidFill>
            <a:srgbClr val="eaf1fd"/>
          </a:solidFill>
          <a:ln w="9525">
            <a:solidFill>
              <a:srgbClr val="eaf1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219640" y="1666800"/>
            <a:ext cx="58096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Étage supérieur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219640" y="1971720"/>
            <a:ext cx="58096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Contrôleur embarqué · Xsens · lidar latéral · PCB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Étage intermédiaire"/>
          <p:cNvSpPr/>
          <p:nvPr/>
        </p:nvSpPr>
        <p:spPr>
          <a:xfrm>
            <a:off x="4952880" y="2666880"/>
            <a:ext cx="6381000" cy="913680"/>
          </a:xfrm>
          <a:prstGeom prst="roundRect">
            <a:avLst>
              <a:gd name="adj" fmla="val 8333"/>
            </a:avLst>
          </a:prstGeom>
          <a:solidFill>
            <a:srgbClr val="ffede5"/>
          </a:solidFill>
          <a:ln w="9525">
            <a:solidFill>
              <a:srgbClr val="ffed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219640" y="2809800"/>
            <a:ext cx="58096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Étage intermédiaire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219640" y="3114720"/>
            <a:ext cx="58096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Batteries de poussée · ESC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Étage inférieur"/>
          <p:cNvSpPr/>
          <p:nvPr/>
        </p:nvSpPr>
        <p:spPr>
          <a:xfrm>
            <a:off x="4952880" y="3809880"/>
            <a:ext cx="6381000" cy="913680"/>
          </a:xfrm>
          <a:prstGeom prst="roundRect">
            <a:avLst>
              <a:gd name="adj" fmla="val 8333"/>
            </a:avLst>
          </a:prstGeom>
          <a:solidFill>
            <a:srgbClr val="e9ecf4"/>
          </a:solidFill>
          <a:ln w="9525">
            <a:solidFill>
              <a:srgbClr val="e9ec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219640" y="3952800"/>
            <a:ext cx="58096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Étage inférieur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219640" y="4257720"/>
            <a:ext cx="58096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Moteurs CC · capteurs Hall · lidar d'altitude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teau orientable"/>
          <p:cNvSpPr/>
          <p:nvPr/>
        </p:nvSpPr>
        <p:spPr>
          <a:xfrm>
            <a:off x="4952880" y="4952880"/>
            <a:ext cx="6381000" cy="913680"/>
          </a:xfrm>
          <a:prstGeom prst="roundRect">
            <a:avLst>
              <a:gd name="adj" fmla="val 8333"/>
            </a:avLst>
          </a:prstGeom>
          <a:solidFill>
            <a:srgbClr val="f1f1f3"/>
          </a:solidFill>
          <a:ln w="9525">
            <a:solidFill>
              <a:srgbClr val="f1f1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219640" y="5095800"/>
            <a:ext cx="58096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Plateau orientable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219640" y="5400720"/>
            <a:ext cx="58096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Les turbines de poussée sont fixées sur un support inclinable.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"/>
          <p:cNvSpPr/>
          <p:nvPr/>
        </p:nvSpPr>
        <p:spPr>
          <a:xfrm>
            <a:off x="457200" y="292680"/>
            <a:ext cx="106671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0b1b33"/>
                </a:solidFill>
                <a:latin typeface="Cambria"/>
                <a:ea typeface="Cambria"/>
              </a:rPr>
              <a:t>Capteurs et actionneurs du Mini-Apterros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ubtitle"/>
          <p:cNvSpPr/>
          <p:nvPr/>
        </p:nvSpPr>
        <p:spPr>
          <a:xfrm>
            <a:off x="457200" y="961920"/>
            <a:ext cx="105721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5b6472"/>
                </a:solidFill>
                <a:latin typeface="Calibri"/>
                <a:ea typeface="Calibri"/>
              </a:rPr>
              <a:t>Les capteurs mesurent l’état de la fusée. Les actionneurs appliquent les corrections.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ensors-heading"/>
          <p:cNvSpPr/>
          <p:nvPr/>
        </p:nvSpPr>
        <p:spPr>
          <a:xfrm>
            <a:off x="457200" y="1495440"/>
            <a:ext cx="42854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CAPTEURS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ensors-rule"/>
          <p:cNvSpPr/>
          <p:nvPr/>
        </p:nvSpPr>
        <p:spPr>
          <a:xfrm>
            <a:off x="457200" y="1857240"/>
            <a:ext cx="4952880" cy="360"/>
          </a:xfrm>
          <a:prstGeom prst="line">
            <a:avLst/>
          </a:prstGeom>
          <a:ln w="19050">
            <a:solidFill>
              <a:srgbClr val="8eac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533520" y="2378880"/>
            <a:ext cx="2142360" cy="1851840"/>
          </a:xfrm>
          <a:prstGeom prst="rect">
            <a:avLst/>
          </a:prstGeom>
          <a:ln w="0">
            <a:noFill/>
          </a:ln>
        </p:spPr>
      </p:pic>
      <p:sp>
        <p:nvSpPr>
          <p:cNvPr id="126" name="lidar-label"/>
          <p:cNvSpPr/>
          <p:nvPr/>
        </p:nvSpPr>
        <p:spPr>
          <a:xfrm>
            <a:off x="2952720" y="2057400"/>
            <a:ext cx="22662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Lidars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lidar-description"/>
          <p:cNvSpPr/>
          <p:nvPr/>
        </p:nvSpPr>
        <p:spPr>
          <a:xfrm>
            <a:off x="2952720" y="2362320"/>
            <a:ext cx="23806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Altitude : distance au sol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Latéral : distance au mur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imu-label"/>
          <p:cNvSpPr/>
          <p:nvPr/>
        </p:nvSpPr>
        <p:spPr>
          <a:xfrm>
            <a:off x="2952720" y="3200400"/>
            <a:ext cx="2456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Centrale inertielle Xsens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imu-description"/>
          <p:cNvSpPr/>
          <p:nvPr/>
        </p:nvSpPr>
        <p:spPr>
          <a:xfrm>
            <a:off x="2952720" y="3514680"/>
            <a:ext cx="242820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Angles φ, θ, ψ, vitesses de rotation et accélérations.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hall-label"/>
          <p:cNvSpPr/>
          <p:nvPr/>
        </p:nvSpPr>
        <p:spPr>
          <a:xfrm>
            <a:off x="2952720" y="4381560"/>
            <a:ext cx="20948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Capteurs Hall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hall-description"/>
          <p:cNvSpPr/>
          <p:nvPr/>
        </p:nvSpPr>
        <p:spPr>
          <a:xfrm>
            <a:off x="2952720" y="4695840"/>
            <a:ext cx="24282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Ils donnent l’angle de chaque plateau pour la commande en position.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actuators-heading"/>
          <p:cNvSpPr/>
          <p:nvPr/>
        </p:nvSpPr>
        <p:spPr>
          <a:xfrm>
            <a:off x="6172200" y="1495440"/>
            <a:ext cx="42854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ACTIONNEURS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actuators-rule"/>
          <p:cNvSpPr/>
          <p:nvPr/>
        </p:nvSpPr>
        <p:spPr>
          <a:xfrm>
            <a:off x="6172200" y="1857240"/>
            <a:ext cx="5143320" cy="360"/>
          </a:xfrm>
          <a:prstGeom prst="line">
            <a:avLst/>
          </a:prstGeom>
          <a:ln w="19050">
            <a:solidFill>
              <a:srgbClr val="e9a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2"/>
          <a:stretch/>
        </p:blipFill>
        <p:spPr>
          <a:xfrm>
            <a:off x="6200640" y="2018880"/>
            <a:ext cx="1571040" cy="1266840"/>
          </a:xfrm>
          <a:prstGeom prst="rect">
            <a:avLst/>
          </a:prstGeom>
          <a:ln w="0">
            <a:noFill/>
          </a:ln>
        </p:spPr>
      </p:pic>
      <p:sp>
        <p:nvSpPr>
          <p:cNvPr id="135" name="roll-turbines-label"/>
          <p:cNvSpPr/>
          <p:nvPr/>
        </p:nvSpPr>
        <p:spPr>
          <a:xfrm>
            <a:off x="8058240" y="2076480"/>
            <a:ext cx="29044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Turbines de roulis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ll-turbines-description"/>
          <p:cNvSpPr/>
          <p:nvPr/>
        </p:nvSpPr>
        <p:spPr>
          <a:xfrm>
            <a:off x="8058240" y="2381400"/>
            <a:ext cx="306648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La commande différentielle crée le couple de roulis.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6222960" y="3352680"/>
            <a:ext cx="1526760" cy="1380240"/>
          </a:xfrm>
          <a:prstGeom prst="rect">
            <a:avLst/>
          </a:prstGeom>
          <a:ln w="0">
            <a:noFill/>
          </a:ln>
        </p:spPr>
      </p:pic>
      <p:sp>
        <p:nvSpPr>
          <p:cNvPr id="138" name="thrust-turbines-label"/>
          <p:cNvSpPr/>
          <p:nvPr/>
        </p:nvSpPr>
        <p:spPr>
          <a:xfrm>
            <a:off x="8058240" y="3448080"/>
            <a:ext cx="3047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Turbines de poussée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hrust-turbines-description"/>
          <p:cNvSpPr/>
          <p:nvPr/>
        </p:nvSpPr>
        <p:spPr>
          <a:xfrm>
            <a:off x="8058240" y="3762360"/>
            <a:ext cx="30664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Elles assurent la portance. Le plateau orientable dévie ensuite la poussée.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motor-esc-label"/>
          <p:cNvSpPr/>
          <p:nvPr/>
        </p:nvSpPr>
        <p:spPr>
          <a:xfrm>
            <a:off x="6191280" y="5038560"/>
            <a:ext cx="2952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b24a1e"/>
                </a:solidFill>
                <a:latin typeface="Calibri"/>
                <a:ea typeface="Calibri"/>
              </a:rPr>
              <a:t>Moteurs CC et ESC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motor-esc-description"/>
          <p:cNvSpPr/>
          <p:nvPr/>
        </p:nvSpPr>
        <p:spPr>
          <a:xfrm>
            <a:off x="6191280" y="5353200"/>
            <a:ext cx="480924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Les moteurs CC inclinent les plateaux. Les ESC appliquent la puissance demandée par le PWM.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eneric-controller-band"/>
          <p:cNvSpPr/>
          <p:nvPr/>
        </p:nvSpPr>
        <p:spPr>
          <a:xfrm>
            <a:off x="457200" y="6000840"/>
            <a:ext cx="10857960" cy="437400"/>
          </a:xfrm>
          <a:prstGeom prst="roundRect">
            <a:avLst>
              <a:gd name="adj" fmla="val 17391"/>
            </a:avLst>
          </a:prstGeom>
          <a:solidFill>
            <a:srgbClr val="f1f1f3"/>
          </a:solidFill>
          <a:ln w="9525">
            <a:solidFill>
              <a:srgbClr val="f1f1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eneric-controller-title"/>
          <p:cNvSpPr/>
          <p:nvPr/>
        </p:nvSpPr>
        <p:spPr>
          <a:xfrm>
            <a:off x="704880" y="6105600"/>
            <a:ext cx="2094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Contrôleur embarqué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eneric-controller-description"/>
          <p:cNvSpPr/>
          <p:nvPr/>
        </p:nvSpPr>
        <p:spPr>
          <a:xfrm>
            <a:off x="2857680" y="6105600"/>
            <a:ext cx="8000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Il reçoit les mesures et envoie les consignes PWM. Le modèle du contrôleur sera remplacé.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"/>
          <p:cNvSpPr/>
          <p:nvPr/>
        </p:nvSpPr>
        <p:spPr>
          <a:xfrm>
            <a:off x="457200" y="292680"/>
            <a:ext cx="8762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Du plateau orientable au mouvement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76280" y="1276200"/>
            <a:ext cx="4761720" cy="4761720"/>
          </a:xfrm>
          <a:prstGeom prst="roundRect">
            <a:avLst>
              <a:gd name="adj" fmla="val 16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force-components"/>
          <p:cNvSpPr/>
          <p:nvPr/>
        </p:nvSpPr>
        <p:spPr>
          <a:xfrm>
            <a:off x="5715000" y="1371600"/>
            <a:ext cx="5571360" cy="1104120"/>
          </a:xfrm>
          <a:prstGeom prst="roundRect">
            <a:avLst>
              <a:gd name="adj" fmla="val 6897"/>
            </a:avLst>
          </a:prstGeom>
          <a:solidFill>
            <a:srgbClr val="ffede5"/>
          </a:solidFill>
          <a:ln w="9525">
            <a:solidFill>
              <a:srgbClr val="ffed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019920" y="1571760"/>
            <a:ext cx="4761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900" spc="-1" strike="noStrike">
                <a:solidFill>
                  <a:srgbClr val="0b1b33"/>
                </a:solidFill>
                <a:latin typeface="Cambria"/>
                <a:ea typeface="Cambria"/>
              </a:rPr>
              <a:t>F verticale = F · cos 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019920" y="2000160"/>
            <a:ext cx="4761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900" spc="-1" strike="noStrike">
                <a:solidFill>
                  <a:srgbClr val="0b1b33"/>
                </a:solidFill>
                <a:latin typeface="Cambria"/>
                <a:ea typeface="Cambria"/>
              </a:rPr>
              <a:t>F horizontale = F · sin 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hysical-explanation"/>
          <p:cNvSpPr/>
          <p:nvPr/>
        </p:nvSpPr>
        <p:spPr>
          <a:xfrm>
            <a:off x="5715000" y="2724120"/>
            <a:ext cx="5571360" cy="1980360"/>
          </a:xfrm>
          <a:prstGeom prst="roundRect">
            <a:avLst>
              <a:gd name="adj" fmla="val 3846"/>
            </a:avLst>
          </a:prstGeom>
          <a:solidFill>
            <a:srgbClr val="f1f1f3"/>
          </a:solidFill>
          <a:ln w="9525">
            <a:solidFill>
              <a:srgbClr val="f1f1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981760" y="2933640"/>
            <a:ext cx="47617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0b1b33"/>
                </a:solidFill>
                <a:latin typeface="Calibri"/>
                <a:ea typeface="Calibri"/>
              </a:rPr>
              <a:t>Le mécanisme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981760" y="3352680"/>
            <a:ext cx="497124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50" spc="-1" strike="noStrike">
                <a:solidFill>
                  <a:srgbClr val="0b1b33"/>
                </a:solidFill>
                <a:latin typeface="Calibri"/>
                <a:ea typeface="Calibri"/>
              </a:rPr>
              <a:t>Les moteurs CC et les bielle-manivelles inclinent le plateau sur deux axes. La poussée est alors déviée : elle corrige l'attitude et peut créer une composante latérale.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ensor-feedback"/>
          <p:cNvSpPr/>
          <p:nvPr/>
        </p:nvSpPr>
        <p:spPr>
          <a:xfrm>
            <a:off x="5715000" y="4952880"/>
            <a:ext cx="5571360" cy="913680"/>
          </a:xfrm>
          <a:prstGeom prst="roundRect">
            <a:avLst>
              <a:gd name="adj" fmla="val 8333"/>
            </a:avLst>
          </a:prstGeom>
          <a:solidFill>
            <a:srgbClr val="eaf1fd"/>
          </a:solidFill>
          <a:ln w="9525">
            <a:solidFill>
              <a:srgbClr val="eaf1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981760" y="5105520"/>
            <a:ext cx="4761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Mesures pour fermer la boucle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981760" y="544824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Lidars : altitude et distance latérale · Xsens : orientation · Hall : angle des plateaux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Axe Z — le seul mouvement autorisé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457200" y="1371600"/>
            <a:ext cx="6400080" cy="1416600"/>
          </a:xfrm>
          <a:prstGeom prst="roundRect">
            <a:avLst>
              <a:gd name="adj" fmla="val 5161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713160" y="1517760"/>
            <a:ext cx="588816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m · h''(t) = F(t) − m·g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F(t) = k_poussée · duty_poussée(t)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457200" y="3063240"/>
            <a:ext cx="6400080" cy="3062520"/>
          </a:xfrm>
          <a:prstGeom prst="roundRect">
            <a:avLst>
              <a:gd name="adj" fmla="val 2388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658440" y="3209400"/>
            <a:ext cx="5997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Ce que dit l'équation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658440" y="3593520"/>
            <a:ext cx="5997600" cy="23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La poussée totale F(t) des 4 turbines s'oppose au poids m·g.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h(t) est la seule position que le système cherche activement à amener à une valeur non nulle (la consigne d'altitude).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PID_Altitude ajuste duty_poussée pour faire converger h vers la consigne, avec anti-windup (l'intégrale ne s'emballe pas si la sortie sature).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8366760" y="2834640"/>
            <a:ext cx="639360" cy="1005120"/>
          </a:xfrm>
          <a:prstGeom prst="triangle">
            <a:avLst>
              <a:gd name="adj" fmla="val 50000"/>
            </a:avLst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8458200" y="3749040"/>
            <a:ext cx="456480" cy="639360"/>
          </a:xfrm>
          <a:prstGeom prst="rect">
            <a:avLst/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8686800" y="2743200"/>
            <a:ext cx="360" cy="360"/>
          </a:xfrm>
          <a:prstGeom prst="line">
            <a:avLst/>
          </a:prstGeom>
          <a:ln w="22225">
            <a:solidFill>
              <a:srgbClr val="ff6b3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8915400" y="1965960"/>
            <a:ext cx="822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35"/>
                </a:solidFill>
                <a:latin typeface="Calibri"/>
                <a:ea typeface="Calibri"/>
              </a:rPr>
              <a:t>F(t)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8686800" y="4480560"/>
            <a:ext cx="360" cy="822960"/>
          </a:xfrm>
          <a:prstGeom prst="line">
            <a:avLst/>
          </a:prstGeom>
          <a:ln w="22225">
            <a:solidFill>
              <a:srgbClr val="8a93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8915400" y="4754880"/>
            <a:ext cx="822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8a93a6"/>
                </a:solidFill>
                <a:latin typeface="Calibri"/>
                <a:ea typeface="Calibri"/>
              </a:rPr>
              <a:t>m·g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7543800" y="347472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b1b33"/>
                </a:solidFill>
                <a:latin typeface="Calibri"/>
                <a:ea typeface="Calibri"/>
              </a:rPr>
              <a:t>h(t)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3" name="Connecteur droit avec flèche 19"/>
          <p:cNvCxnSpPr>
            <a:stCxn id="165" idx="0"/>
          </p:cNvCxnSpPr>
          <p:nvPr/>
        </p:nvCxnSpPr>
        <p:spPr>
          <a:xfrm flipV="1">
            <a:off x="8686440" y="1517760"/>
            <a:ext cx="1080" cy="1317240"/>
          </a:xfrm>
          <a:prstGeom prst="straightConnector1">
            <a:avLst/>
          </a:prstGeom>
          <a:ln w="19050">
            <a:solidFill>
              <a:srgbClr val="ed7d31"/>
            </a:solidFill>
            <a:round/>
            <a:tailEnd len="med" type="triangle" w="med"/>
          </a:ln>
        </p:spPr>
      </p:cxnSp>
      <p:pic>
        <p:nvPicPr>
          <p:cNvPr id="174" name="Image 21" descr=""/>
          <p:cNvPicPr/>
          <p:nvPr/>
        </p:nvPicPr>
        <p:blipFill>
          <a:blip r:embed="rId1"/>
          <a:stretch/>
        </p:blipFill>
        <p:spPr>
          <a:xfrm>
            <a:off x="9272880" y="2612520"/>
            <a:ext cx="2259720" cy="204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609480" y="36576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4270" spc="-1" strike="noStrike">
                <a:solidFill>
                  <a:srgbClr val="1f2a44"/>
                </a:solidFill>
                <a:latin typeface="Cambria"/>
                <a:ea typeface="Cambria"/>
              </a:rPr>
              <a:t>Couple de roulis des turbines</a:t>
            </a:r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609480" y="10972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70" spc="-1" strike="noStrike">
                <a:solidFill>
                  <a:srgbClr val="5a6b85"/>
                </a:solidFill>
                <a:latin typeface="Calibri"/>
                <a:ea typeface="Calibri"/>
              </a:rPr>
              <a:t>Couple autour de l'axe Z créé par 2 paires de turbines (vue de dessus)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Image 0" descr=""/>
          <p:cNvPicPr/>
          <p:nvPr/>
        </p:nvPicPr>
        <p:blipFill>
          <a:blip r:embed="rId1"/>
          <a:stretch/>
        </p:blipFill>
        <p:spPr>
          <a:xfrm>
            <a:off x="609480" y="1706760"/>
            <a:ext cx="3900600" cy="3303360"/>
          </a:xfrm>
          <a:prstGeom prst="rect">
            <a:avLst/>
          </a:prstGeom>
          <a:ln w="0">
            <a:noFill/>
          </a:ln>
        </p:spPr>
      </p:pic>
      <p:sp>
        <p:nvSpPr>
          <p:cNvPr id="178" name="Shape 2"/>
          <p:cNvSpPr/>
          <p:nvPr/>
        </p:nvSpPr>
        <p:spPr>
          <a:xfrm>
            <a:off x="609480" y="5291280"/>
            <a:ext cx="206640" cy="2066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975240" y="5242680"/>
            <a:ext cx="35348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600" spc="-1" strike="noStrike">
                <a:solidFill>
                  <a:srgbClr val="1f2a44"/>
                </a:solidFill>
                <a:latin typeface="Calibri"/>
                <a:ea typeface="Calibri"/>
              </a:rPr>
              <a:t>Groupe bleu : couple +  (anti-horaire)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609480" y="5681520"/>
            <a:ext cx="206640" cy="2066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975240" y="5632560"/>
            <a:ext cx="35348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600" spc="-1" strike="noStrike">
                <a:solidFill>
                  <a:srgbClr val="1f2a44"/>
                </a:solidFill>
                <a:latin typeface="Calibri"/>
                <a:ea typeface="Calibri"/>
              </a:rPr>
              <a:t>Groupe vert : couple −  (horaire)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609480" y="6022800"/>
            <a:ext cx="390060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1f2a44"/>
                </a:solidFill>
                <a:latin typeface="Calibri"/>
                <a:ea typeface="Calibri"/>
              </a:rPr>
              <a:t>Une turbine : Ci = ± R · Fi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5242680" y="1706760"/>
            <a:ext cx="6339240" cy="876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5425560" y="1938600"/>
            <a:ext cx="413640" cy="413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5425560" y="1938600"/>
            <a:ext cx="413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6035040" y="1792080"/>
            <a:ext cx="5363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Un couple de turbines (même couleur)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6035040" y="2072520"/>
            <a:ext cx="5363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C = 2 · R · 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5242680" y="2730960"/>
            <a:ext cx="6339240" cy="876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5425560" y="2962800"/>
            <a:ext cx="413640" cy="413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5425560" y="2962800"/>
            <a:ext cx="413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6035040" y="2816280"/>
            <a:ext cx="5363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Les 4 turbines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6035040" y="3096720"/>
            <a:ext cx="5363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Cz = R (F1 + F4 − F2 − F3) = 2R (Fb − Fg)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7"/>
          <p:cNvSpPr/>
          <p:nvPr/>
        </p:nvSpPr>
        <p:spPr>
          <a:xfrm>
            <a:off x="5242680" y="3755160"/>
            <a:ext cx="6339240" cy="876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5425560" y="3986640"/>
            <a:ext cx="413640" cy="413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5425560" y="3986640"/>
            <a:ext cx="413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6035040" y="3840480"/>
            <a:ext cx="5363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Avec la commande u ∈ [−1 ; 1]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6035040" y="4120920"/>
            <a:ext cx="5363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Cz = 2 · R · Fmax · 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2"/>
          <p:cNvSpPr/>
          <p:nvPr/>
        </p:nvSpPr>
        <p:spPr>
          <a:xfrm>
            <a:off x="5242680" y="4779360"/>
            <a:ext cx="6339240" cy="876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5425560" y="5010840"/>
            <a:ext cx="413640" cy="413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5425560" y="5010840"/>
            <a:ext cx="4136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5"/>
          <p:cNvSpPr/>
          <p:nvPr/>
        </p:nvSpPr>
        <p:spPr>
          <a:xfrm>
            <a:off x="6035040" y="4864680"/>
            <a:ext cx="5363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70" spc="-1" strike="noStrike">
                <a:solidFill>
                  <a:srgbClr val="5a6b85"/>
                </a:solidFill>
                <a:latin typeface="Calibri"/>
                <a:ea typeface="Calibri"/>
              </a:rPr>
              <a:t>Dynamique de roulis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6035040" y="5145120"/>
            <a:ext cx="5363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f2a44"/>
                </a:solidFill>
                <a:latin typeface="Cambria"/>
                <a:ea typeface="Cambria"/>
              </a:rPr>
              <a:t>Jz · d²θ/dt² = Cz  ⇒  d²θ/dt² = (2R·Fmax / Jz) · 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5242680" y="5852160"/>
            <a:ext cx="63392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340" spc="-1" strike="noStrike">
                <a:solidFill>
                  <a:srgbClr val="5a6b85"/>
                </a:solidFill>
                <a:latin typeface="Calibri"/>
                <a:ea typeface="Calibri"/>
              </a:rPr>
              <a:t>R : bras de levier · Fmax ≈ 3,5 à 4,9 N par turbine · u : commande normalisée · Jz : inertie autour de Z</a:t>
            </a:r>
            <a:endParaRPr b="0" lang="en-US" sz="134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4" name="Connecteur droit avec flèche 31"/>
          <p:cNvCxnSpPr/>
          <p:nvPr/>
        </p:nvCxnSpPr>
        <p:spPr>
          <a:xfrm flipV="1">
            <a:off x="2509200" y="2816280"/>
            <a:ext cx="783360" cy="613440"/>
          </a:xfrm>
          <a:prstGeom prst="straightConnector1">
            <a:avLst/>
          </a:prstGeom>
          <a:ln w="0">
            <a:solidFill>
              <a:srgbClr val="ed7d31"/>
            </a:solidFill>
            <a:headEnd len="med" type="triangle" w="med"/>
            <a:tailEnd len="med" type="triangle" w="med"/>
          </a:ln>
        </p:spPr>
      </p:cxnSp>
      <p:sp>
        <p:nvSpPr>
          <p:cNvPr id="205" name="ZoneTexte 32"/>
          <p:cNvSpPr/>
          <p:nvPr/>
        </p:nvSpPr>
        <p:spPr>
          <a:xfrm rot="19336800">
            <a:off x="2573280" y="2817000"/>
            <a:ext cx="321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Tangage θ et lacet ψ : les 2 plateaux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457200" y="1371600"/>
            <a:ext cx="11246400" cy="1599480"/>
          </a:xfrm>
          <a:prstGeom prst="roundRect">
            <a:avLst>
              <a:gd name="adj" fmla="val 4571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713160" y="1517760"/>
            <a:ext cx="10734480" cy="13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I_θ · θ''(t) = k_plateau · θ1(t)          I_ψ · ψ''(t) = k_plateau · θ2(t)          consigne θ = ψ = 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457200" y="3200400"/>
            <a:ext cx="5439960" cy="2925360"/>
          </a:xfrm>
          <a:prstGeom prst="roundRect">
            <a:avLst>
              <a:gd name="adj" fmla="val 2500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658440" y="3346560"/>
            <a:ext cx="5037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Mécanisme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658440" y="3730680"/>
            <a:ext cx="5037480" cy="22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Chaque plateau (1 et 2) est incliné par son propre moteur à courant continu.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L'inclinaison dévie une partie du flux d'air : elle crée un couple de tangage (plateau 1) ou de lacet (plateau 2).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HYPOTHÈSE à confirmer sur le câblage réel : plateau 1 → tangage, plateau 2 → lacet.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6172200" y="3200400"/>
            <a:ext cx="5531400" cy="2925360"/>
          </a:xfrm>
          <a:prstGeom prst="roundRect">
            <a:avLst>
              <a:gd name="adj" fmla="val 2500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6373440" y="3346560"/>
            <a:ext cx="5128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Rôle dans la boucle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6373440" y="3730680"/>
            <a:ext cx="5128920" cy="22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PID_Pitch / PID_Yaw calculent, à partir de l'écart mesuré par l'IMU, l'angle de plateau à viser.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Un 2ᵉ PID (position) pilote le moteur pour atteindre cet angle — voir l'équation du moteur, diapo suivante.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Là encore : consigne toujours nulle, seule la correction des perturbations est commandée.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L'actionneur : un moteur, un retard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457200" y="1371600"/>
            <a:ext cx="6400080" cy="1782360"/>
          </a:xfrm>
          <a:prstGeom prst="roundRect">
            <a:avLst>
              <a:gd name="adj" fmla="val 4103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713160" y="1517760"/>
            <a:ext cx="5888160" cy="14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T · θi''(t) + θi'(t) = K1 · ui(t) · charge(θi(t))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charge(θ) = 1 − 0,08 · sin(θ) / sin(3,3°)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457200" y="3337560"/>
            <a:ext cx="6400080" cy="2833920"/>
          </a:xfrm>
          <a:prstGeom prst="roundRect">
            <a:avLst>
              <a:gd name="adj" fmla="val 2581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658440" y="3483720"/>
            <a:ext cx="5997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Utilité de cette équation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658440" y="3867840"/>
            <a:ext cx="5997600" cy="21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1er ordre : la commande PID ui(t) ne se traduit pas instantanément en angle — il y a un retard, caractérisé par la constante de temps 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K1 : vitesse angulaire maximale atteignable (°/s) pour une commande maximale.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charge(θ) modélise un couple résistant — valable seulement pour de petits angles (au-delà d'environ 46°, le modèle n'est plus physique).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7452360" y="3154680"/>
            <a:ext cx="360" cy="1920240"/>
          </a:xfrm>
          <a:prstGeom prst="line">
            <a:avLst/>
          </a:prstGeom>
          <a:ln w="15875">
            <a:solidFill>
              <a:srgbClr val="8a93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7452360" y="5074920"/>
            <a:ext cx="3840480" cy="360"/>
          </a:xfrm>
          <a:prstGeom prst="line">
            <a:avLst/>
          </a:prstGeom>
          <a:ln w="15875">
            <a:solidFill>
              <a:srgbClr val="8a93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7452360" y="3291840"/>
            <a:ext cx="3840480" cy="360"/>
          </a:xfrm>
          <a:prstGeom prst="line">
            <a:avLst/>
          </a:prstGeom>
          <a:ln w="12700">
            <a:solidFill>
              <a:srgbClr val="8a93a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7452360" y="507492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3"/>
          <p:cNvSpPr/>
          <p:nvPr/>
        </p:nvSpPr>
        <p:spPr>
          <a:xfrm>
            <a:off x="7612200" y="48009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7772400" y="456912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5"/>
          <p:cNvSpPr/>
          <p:nvPr/>
        </p:nvSpPr>
        <p:spPr>
          <a:xfrm>
            <a:off x="7932240" y="437328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8092440" y="420696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8252280" y="40665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8412480" y="394776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8572320" y="38469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8732520" y="37616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8892360" y="368964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9052560" y="36284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3"/>
          <p:cNvSpPr/>
          <p:nvPr/>
        </p:nvSpPr>
        <p:spPr>
          <a:xfrm>
            <a:off x="9212400" y="357660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9372600" y="35330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5"/>
          <p:cNvSpPr/>
          <p:nvPr/>
        </p:nvSpPr>
        <p:spPr>
          <a:xfrm>
            <a:off x="9532440" y="34959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9692640" y="346464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7"/>
          <p:cNvSpPr/>
          <p:nvPr/>
        </p:nvSpPr>
        <p:spPr>
          <a:xfrm>
            <a:off x="9852480" y="343800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8"/>
          <p:cNvSpPr/>
          <p:nvPr/>
        </p:nvSpPr>
        <p:spPr>
          <a:xfrm>
            <a:off x="10012680" y="341568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9"/>
          <p:cNvSpPr/>
          <p:nvPr/>
        </p:nvSpPr>
        <p:spPr>
          <a:xfrm>
            <a:off x="10172520" y="339660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0"/>
          <p:cNvSpPr/>
          <p:nvPr/>
        </p:nvSpPr>
        <p:spPr>
          <a:xfrm>
            <a:off x="10332720" y="338040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1"/>
          <p:cNvSpPr/>
          <p:nvPr/>
        </p:nvSpPr>
        <p:spPr>
          <a:xfrm>
            <a:off x="10492560" y="336672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2"/>
          <p:cNvSpPr/>
          <p:nvPr/>
        </p:nvSpPr>
        <p:spPr>
          <a:xfrm>
            <a:off x="10652760" y="335520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3"/>
          <p:cNvSpPr/>
          <p:nvPr/>
        </p:nvSpPr>
        <p:spPr>
          <a:xfrm>
            <a:off x="10812600" y="334548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4"/>
          <p:cNvSpPr/>
          <p:nvPr/>
        </p:nvSpPr>
        <p:spPr>
          <a:xfrm>
            <a:off x="10972800" y="3337200"/>
            <a:ext cx="15984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35"/>
          <p:cNvSpPr/>
          <p:nvPr/>
        </p:nvSpPr>
        <p:spPr>
          <a:xfrm>
            <a:off x="11132640" y="3330360"/>
            <a:ext cx="160200" cy="360"/>
          </a:xfrm>
          <a:prstGeom prst="line">
            <a:avLst/>
          </a:prstGeom>
          <a:ln w="3175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6"/>
          <p:cNvSpPr/>
          <p:nvPr/>
        </p:nvSpPr>
        <p:spPr>
          <a:xfrm>
            <a:off x="6995160" y="31546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b1b33"/>
                </a:solidFill>
                <a:latin typeface="Calibri"/>
                <a:ea typeface="Calibri"/>
              </a:rPr>
              <a:t>θi(t)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37"/>
          <p:cNvSpPr/>
          <p:nvPr/>
        </p:nvSpPr>
        <p:spPr>
          <a:xfrm>
            <a:off x="11155680" y="51022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b1b33"/>
                </a:solidFill>
                <a:latin typeface="Calibri"/>
                <a:ea typeface="Calibri"/>
              </a:rPr>
              <a:t>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38"/>
          <p:cNvSpPr/>
          <p:nvPr/>
        </p:nvSpPr>
        <p:spPr>
          <a:xfrm>
            <a:off x="7178040" y="530352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a93a6"/>
                </a:solidFill>
                <a:latin typeface="Calibri"/>
                <a:ea typeface="Calibri"/>
              </a:rPr>
              <a:t>Réponse à un échelon de commande (1er ordre)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9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Une seule brique, réutilisée 7 fois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457200" y="1371600"/>
            <a:ext cx="11246400" cy="1233720"/>
          </a:xfrm>
          <a:prstGeom prst="roundRect">
            <a:avLst>
              <a:gd name="adj" fmla="val 5926"/>
            </a:avLst>
          </a:prstGeom>
          <a:solidFill>
            <a:srgbClr val="ffed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713160" y="1517760"/>
            <a:ext cx="10734480" cy="9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b1b33"/>
                </a:solidFill>
                <a:latin typeface="Cambria"/>
                <a:ea typeface="Cambria"/>
              </a:rPr>
              <a:t>u(t) = Kp·e(t)  +  Ki·∫e(τ)dτ  +  Kd·e'(t)          avec  e(t) = consigne(t) − mesure(t)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457200" y="288036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658440" y="2990160"/>
            <a:ext cx="913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b1b33"/>
                </a:solidFill>
                <a:latin typeface="Cambria"/>
                <a:ea typeface="Cambria"/>
              </a:rPr>
              <a:t>P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1508760" y="306324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proportionnel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réagit à l'écart présent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4279320" y="288036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4480560" y="2990160"/>
            <a:ext cx="913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b1b33"/>
                </a:solidFill>
                <a:latin typeface="Cambria"/>
                <a:ea typeface="Cambria"/>
              </a:rPr>
              <a:t>I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5330880" y="306324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intégral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élimine l'erreur qui persiste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>
            <a:off x="8101440" y="2880360"/>
            <a:ext cx="3565440" cy="1416600"/>
          </a:xfrm>
          <a:prstGeom prst="roundRect">
            <a:avLst>
              <a:gd name="adj" fmla="val 5806"/>
            </a:avLst>
          </a:prstGeom>
          <a:solidFill>
            <a:srgbClr val="ea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8302680" y="2990160"/>
            <a:ext cx="913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b1b33"/>
                </a:solidFill>
                <a:latin typeface="Cambria"/>
                <a:ea typeface="Cambria"/>
              </a:rPr>
              <a:t>D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4"/>
          <p:cNvSpPr/>
          <p:nvPr/>
        </p:nvSpPr>
        <p:spPr>
          <a:xfrm>
            <a:off x="9153000" y="306324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dérivé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b1b33"/>
                </a:solidFill>
                <a:latin typeface="Calibri"/>
                <a:ea typeface="Calibri"/>
              </a:rPr>
              <a:t>anticipe / amortit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457200" y="4572000"/>
            <a:ext cx="11246400" cy="1736640"/>
          </a:xfrm>
          <a:prstGeom prst="roundRect">
            <a:avLst>
              <a:gd name="adj" fmla="val 4211"/>
            </a:avLst>
          </a:prstGeom>
          <a:solidFill>
            <a:srgbClr val="f1f1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658440" y="4718160"/>
            <a:ext cx="1084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1b33"/>
                </a:solidFill>
                <a:latin typeface="Calibri"/>
                <a:ea typeface="Calibri"/>
              </a:rPr>
              <a:t>7 instances, 1 seule structure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658440" y="5102280"/>
            <a:ext cx="1084392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Altitude, Roulis, Tangage, Lacet, + 2 régulateurs de position (un par plateau) : même code, gains Kp/Ki/Kd propres à chacun.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b33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0b1b33"/>
                </a:solidFill>
                <a:latin typeface="Calibri"/>
                <a:ea typeface="Calibri"/>
              </a:rPr>
              <a:t>Version réellement implémentée : forme récursive discrète (pas Ts = 10 ms), avec anti-windup sur la boucle d'altitude.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457200" y="29268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1b33"/>
                </a:solidFill>
                <a:latin typeface="Cambria"/>
                <a:ea typeface="Cambria"/>
              </a:rPr>
              <a:t>Synthèse : qui commande quoi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8942760" y="292680"/>
            <a:ext cx="310320" cy="3103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8942760" y="2926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9345240" y="29268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35"/>
                </a:solidFill>
                <a:latin typeface="Calibri"/>
                <a:ea typeface="Calibri"/>
              </a:rPr>
              <a:t>libre  ·  </a:t>
            </a:r>
            <a:r>
              <a:rPr b="0" lang="en-US" sz="1100" spc="-1" strike="noStrike">
                <a:solidFill>
                  <a:srgbClr val="8a93a6"/>
                </a:solidFill>
                <a:latin typeface="Calibri"/>
                <a:ea typeface="Calibri"/>
              </a:rPr>
              <a:t>x, y, φ, θ, ψ =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"/>
          <p:cNvSpPr/>
          <p:nvPr/>
        </p:nvSpPr>
        <p:spPr>
          <a:xfrm>
            <a:off x="457200" y="1417320"/>
            <a:ext cx="2010960" cy="71244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594360" y="1417320"/>
            <a:ext cx="17366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Axe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6"/>
          <p:cNvSpPr/>
          <p:nvPr/>
        </p:nvSpPr>
        <p:spPr>
          <a:xfrm>
            <a:off x="2468880" y="1417320"/>
            <a:ext cx="1828080" cy="71244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2606040" y="141732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Consigne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4297680" y="1417320"/>
            <a:ext cx="2193840" cy="71244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4434840" y="1417320"/>
            <a:ext cx="1919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Capteur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0"/>
          <p:cNvSpPr/>
          <p:nvPr/>
        </p:nvSpPr>
        <p:spPr>
          <a:xfrm>
            <a:off x="6492240" y="1417320"/>
            <a:ext cx="2468160" cy="71244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6629400" y="1417320"/>
            <a:ext cx="2193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Actionneur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8961120" y="1417320"/>
            <a:ext cx="2742480" cy="712440"/>
          </a:xfrm>
          <a:prstGeom prst="rect">
            <a:avLst/>
          </a:prstGeom>
          <a:solidFill>
            <a:srgbClr val="0b1b3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3"/>
          <p:cNvSpPr/>
          <p:nvPr/>
        </p:nvSpPr>
        <p:spPr>
          <a:xfrm>
            <a:off x="9098280" y="1417320"/>
            <a:ext cx="24681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Régulateur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4"/>
          <p:cNvSpPr/>
          <p:nvPr/>
        </p:nvSpPr>
        <p:spPr>
          <a:xfrm>
            <a:off x="457200" y="2130480"/>
            <a:ext cx="2010960" cy="71244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594360" y="2130480"/>
            <a:ext cx="17366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Z (altitude)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6"/>
          <p:cNvSpPr/>
          <p:nvPr/>
        </p:nvSpPr>
        <p:spPr>
          <a:xfrm>
            <a:off x="2468880" y="2130480"/>
            <a:ext cx="1828080" cy="71244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2606040" y="213048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libre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4297680" y="2130480"/>
            <a:ext cx="2193840" cy="71244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4434840" y="2130480"/>
            <a:ext cx="1919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2 lidars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0"/>
          <p:cNvSpPr/>
          <p:nvPr/>
        </p:nvSpPr>
        <p:spPr>
          <a:xfrm>
            <a:off x="6492240" y="2130480"/>
            <a:ext cx="2468160" cy="71244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6629400" y="2130480"/>
            <a:ext cx="2193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3 turbines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2"/>
          <p:cNvSpPr/>
          <p:nvPr/>
        </p:nvSpPr>
        <p:spPr>
          <a:xfrm>
            <a:off x="8961120" y="2130480"/>
            <a:ext cx="2742480" cy="712440"/>
          </a:xfrm>
          <a:prstGeom prst="rect">
            <a:avLst/>
          </a:prstGeom>
          <a:solidFill>
            <a:srgbClr val="ffede5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3"/>
          <p:cNvSpPr/>
          <p:nvPr/>
        </p:nvSpPr>
        <p:spPr>
          <a:xfrm>
            <a:off x="9098280" y="2130480"/>
            <a:ext cx="24681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PID_Altitude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4"/>
          <p:cNvSpPr/>
          <p:nvPr/>
        </p:nvSpPr>
        <p:spPr>
          <a:xfrm>
            <a:off x="457200" y="2843640"/>
            <a:ext cx="201096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5"/>
          <p:cNvSpPr/>
          <p:nvPr/>
        </p:nvSpPr>
        <p:spPr>
          <a:xfrm>
            <a:off x="594360" y="2843640"/>
            <a:ext cx="17366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φ (roulis)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6"/>
          <p:cNvSpPr/>
          <p:nvPr/>
        </p:nvSpPr>
        <p:spPr>
          <a:xfrm>
            <a:off x="2468880" y="2843640"/>
            <a:ext cx="182808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7"/>
          <p:cNvSpPr/>
          <p:nvPr/>
        </p:nvSpPr>
        <p:spPr>
          <a:xfrm>
            <a:off x="2606040" y="284364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8"/>
          <p:cNvSpPr/>
          <p:nvPr/>
        </p:nvSpPr>
        <p:spPr>
          <a:xfrm>
            <a:off x="4297680" y="2843640"/>
            <a:ext cx="219384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29"/>
          <p:cNvSpPr/>
          <p:nvPr/>
        </p:nvSpPr>
        <p:spPr>
          <a:xfrm>
            <a:off x="4434840" y="2843640"/>
            <a:ext cx="1919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IMU Xsens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30"/>
          <p:cNvSpPr/>
          <p:nvPr/>
        </p:nvSpPr>
        <p:spPr>
          <a:xfrm>
            <a:off x="6492240" y="2843640"/>
            <a:ext cx="246816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1"/>
          <p:cNvSpPr/>
          <p:nvPr/>
        </p:nvSpPr>
        <p:spPr>
          <a:xfrm>
            <a:off x="6629400" y="2843640"/>
            <a:ext cx="2193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turbines (diff.)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2"/>
          <p:cNvSpPr/>
          <p:nvPr/>
        </p:nvSpPr>
        <p:spPr>
          <a:xfrm>
            <a:off x="8961120" y="2843640"/>
            <a:ext cx="274248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33"/>
          <p:cNvSpPr/>
          <p:nvPr/>
        </p:nvSpPr>
        <p:spPr>
          <a:xfrm>
            <a:off x="9098280" y="2843640"/>
            <a:ext cx="24681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PID_Roll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4"/>
          <p:cNvSpPr/>
          <p:nvPr/>
        </p:nvSpPr>
        <p:spPr>
          <a:xfrm>
            <a:off x="457200" y="3557160"/>
            <a:ext cx="201096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5"/>
          <p:cNvSpPr/>
          <p:nvPr/>
        </p:nvSpPr>
        <p:spPr>
          <a:xfrm>
            <a:off x="594360" y="3557160"/>
            <a:ext cx="17366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θ (tangage)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6"/>
          <p:cNvSpPr/>
          <p:nvPr/>
        </p:nvSpPr>
        <p:spPr>
          <a:xfrm>
            <a:off x="2468880" y="3557160"/>
            <a:ext cx="182808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37"/>
          <p:cNvSpPr/>
          <p:nvPr/>
        </p:nvSpPr>
        <p:spPr>
          <a:xfrm>
            <a:off x="2606040" y="355716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8"/>
          <p:cNvSpPr/>
          <p:nvPr/>
        </p:nvSpPr>
        <p:spPr>
          <a:xfrm>
            <a:off x="4297680" y="3557160"/>
            <a:ext cx="219384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9"/>
          <p:cNvSpPr/>
          <p:nvPr/>
        </p:nvSpPr>
        <p:spPr>
          <a:xfrm>
            <a:off x="4434840" y="3557160"/>
            <a:ext cx="1919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IMU Xsens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40"/>
          <p:cNvSpPr/>
          <p:nvPr/>
        </p:nvSpPr>
        <p:spPr>
          <a:xfrm>
            <a:off x="6492240" y="3557160"/>
            <a:ext cx="246816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41"/>
          <p:cNvSpPr/>
          <p:nvPr/>
        </p:nvSpPr>
        <p:spPr>
          <a:xfrm>
            <a:off x="6629400" y="3557160"/>
            <a:ext cx="2193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plateau 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42"/>
          <p:cNvSpPr/>
          <p:nvPr/>
        </p:nvSpPr>
        <p:spPr>
          <a:xfrm>
            <a:off x="8961120" y="3557160"/>
            <a:ext cx="274248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43"/>
          <p:cNvSpPr/>
          <p:nvPr/>
        </p:nvSpPr>
        <p:spPr>
          <a:xfrm>
            <a:off x="9098280" y="3557160"/>
            <a:ext cx="24681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PID_Pitch + servo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44"/>
          <p:cNvSpPr/>
          <p:nvPr/>
        </p:nvSpPr>
        <p:spPr>
          <a:xfrm>
            <a:off x="457200" y="4270320"/>
            <a:ext cx="201096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45"/>
          <p:cNvSpPr/>
          <p:nvPr/>
        </p:nvSpPr>
        <p:spPr>
          <a:xfrm>
            <a:off x="594360" y="4270320"/>
            <a:ext cx="17366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ψ (lacet)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46"/>
          <p:cNvSpPr/>
          <p:nvPr/>
        </p:nvSpPr>
        <p:spPr>
          <a:xfrm>
            <a:off x="2468880" y="4270320"/>
            <a:ext cx="182808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47"/>
          <p:cNvSpPr/>
          <p:nvPr/>
        </p:nvSpPr>
        <p:spPr>
          <a:xfrm>
            <a:off x="2606040" y="427032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48"/>
          <p:cNvSpPr/>
          <p:nvPr/>
        </p:nvSpPr>
        <p:spPr>
          <a:xfrm>
            <a:off x="4297680" y="4270320"/>
            <a:ext cx="219384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49"/>
          <p:cNvSpPr/>
          <p:nvPr/>
        </p:nvSpPr>
        <p:spPr>
          <a:xfrm>
            <a:off x="4434840" y="4270320"/>
            <a:ext cx="1919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IMU Xsens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50"/>
          <p:cNvSpPr/>
          <p:nvPr/>
        </p:nvSpPr>
        <p:spPr>
          <a:xfrm>
            <a:off x="6492240" y="4270320"/>
            <a:ext cx="246816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51"/>
          <p:cNvSpPr/>
          <p:nvPr/>
        </p:nvSpPr>
        <p:spPr>
          <a:xfrm>
            <a:off x="6629400" y="4270320"/>
            <a:ext cx="2193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plateau 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52"/>
          <p:cNvSpPr/>
          <p:nvPr/>
        </p:nvSpPr>
        <p:spPr>
          <a:xfrm>
            <a:off x="8961120" y="4270320"/>
            <a:ext cx="2742480" cy="712440"/>
          </a:xfrm>
          <a:prstGeom prst="rect">
            <a:avLst/>
          </a:prstGeom>
          <a:solidFill>
            <a:srgbClr val="f1f1f3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53"/>
          <p:cNvSpPr/>
          <p:nvPr/>
        </p:nvSpPr>
        <p:spPr>
          <a:xfrm>
            <a:off x="9098280" y="4270320"/>
            <a:ext cx="24681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PID_Yaw + servo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54"/>
          <p:cNvSpPr/>
          <p:nvPr/>
        </p:nvSpPr>
        <p:spPr>
          <a:xfrm>
            <a:off x="457200" y="4983480"/>
            <a:ext cx="201096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55"/>
          <p:cNvSpPr/>
          <p:nvPr/>
        </p:nvSpPr>
        <p:spPr>
          <a:xfrm>
            <a:off x="594360" y="4983480"/>
            <a:ext cx="17366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x, 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56"/>
          <p:cNvSpPr/>
          <p:nvPr/>
        </p:nvSpPr>
        <p:spPr>
          <a:xfrm>
            <a:off x="2468880" y="4983480"/>
            <a:ext cx="182808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57"/>
          <p:cNvSpPr/>
          <p:nvPr/>
        </p:nvSpPr>
        <p:spPr>
          <a:xfrm>
            <a:off x="2606040" y="4983480"/>
            <a:ext cx="15537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0 (indirect)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58"/>
          <p:cNvSpPr/>
          <p:nvPr/>
        </p:nvSpPr>
        <p:spPr>
          <a:xfrm>
            <a:off x="4297680" y="4983480"/>
            <a:ext cx="219384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59"/>
          <p:cNvSpPr/>
          <p:nvPr/>
        </p:nvSpPr>
        <p:spPr>
          <a:xfrm>
            <a:off x="4434840" y="4983480"/>
            <a:ext cx="19195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—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60"/>
          <p:cNvSpPr/>
          <p:nvPr/>
        </p:nvSpPr>
        <p:spPr>
          <a:xfrm>
            <a:off x="6492240" y="4983480"/>
            <a:ext cx="246816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61"/>
          <p:cNvSpPr/>
          <p:nvPr/>
        </p:nvSpPr>
        <p:spPr>
          <a:xfrm>
            <a:off x="6629400" y="4983480"/>
            <a:ext cx="21938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—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62"/>
          <p:cNvSpPr/>
          <p:nvPr/>
        </p:nvSpPr>
        <p:spPr>
          <a:xfrm>
            <a:off x="8961120" y="4983480"/>
            <a:ext cx="2742480" cy="71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63"/>
          <p:cNvSpPr/>
          <p:nvPr/>
        </p:nvSpPr>
        <p:spPr>
          <a:xfrm>
            <a:off x="9098280" y="4983480"/>
            <a:ext cx="24681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b1b33"/>
                </a:solidFill>
                <a:latin typeface="Calibri"/>
                <a:ea typeface="Calibri"/>
              </a:rPr>
              <a:t>conséquence de φ=θ=0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64"/>
          <p:cNvSpPr/>
          <p:nvPr/>
        </p:nvSpPr>
        <p:spPr>
          <a:xfrm>
            <a:off x="1145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b6c3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11"/>
          <p:cNvSpPr/>
          <p:nvPr/>
        </p:nvSpPr>
        <p:spPr>
          <a:xfrm>
            <a:off x="640080" y="489204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Questions ?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640080" y="562356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fb2d6"/>
                </a:solidFill>
                <a:latin typeface="Calibri"/>
                <a:ea typeface="Calibri"/>
              </a:rPr>
              <a:t>Un seul axe commandé (Z) — cinq axes stabilisés à zéro.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2026-09-28T23:53:18Z</dcterms:created>
  <dc:creator>Walnut Exporter</dc:creator>
  <dc:description/>
  <dc:language>en-US</dc:language>
  <cp:lastModifiedBy/>
  <dcterms:modified xsi:type="dcterms:W3CDTF">2026-09-29T11:19:18Z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