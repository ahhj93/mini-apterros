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-10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51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>
            <a:extLst>
              <a:ext uri="{FF2B5EF4-FFF2-40B4-BE49-F238E27FC236}">
                <a16:creationId xmlns:a16="http://schemas.microsoft.com/office/drawing/2014/main" id="{7B6AFDBC-8978-47BE-B2B5-D808DDCC8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080" y="167361"/>
            <a:ext cx="6367429" cy="3581679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640080" y="2331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APTEROS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et commande d'un engin à décollage vertical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degré de liberté commandé : l'altitude (Z).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cinq autres — x, y, roulis, tangage, lacet — sont maintenus à </a:t>
            </a:r>
            <a:r>
              <a:rPr lang="en-US" sz="1400" i="1" dirty="0" err="1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</a:t>
            </a:r>
            <a:r>
              <a:rPr lang="en-US" sz="14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Thomas  —  ENSEA</a:t>
            </a:r>
            <a:endParaRPr lang="en-US" sz="1300" dirty="0"/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D16AB48F-7FE7-450A-B726-C6A749CD76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112520"/>
            <a:ext cx="2468880" cy="246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30" name="Picture 6" descr="Projet MINI-APTERROS - Centre Spatial Universitaire de Nouvelle-Aquitaine">
            <a:extLst>
              <a:ext uri="{FF2B5EF4-FFF2-40B4-BE49-F238E27FC236}">
                <a16:creationId xmlns:a16="http://schemas.microsoft.com/office/drawing/2014/main" id="{62067F23-A148-4969-8E98-0A10A688EE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83" t="41101" r="39880" b="33996"/>
          <a:stretch/>
        </p:blipFill>
        <p:spPr bwMode="auto">
          <a:xfrm>
            <a:off x="9875521" y="3429000"/>
            <a:ext cx="1823766" cy="329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: un mouvement, cinq contraintes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42832" y="29260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8942832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45168" y="2926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 ·  </a:t>
            </a: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φ, θ, ψ = 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L'engin possède 6 degrés de liberté (3 translations, 3 rotations). Le cahier des charges n'en autorise qu'un seul à varier 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EDE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81965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60604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2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 libre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33672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81965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285232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latérale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260604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0 (non mesurée / indirecte)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81965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061704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latérale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11312" y="260604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0 (non mesurée / indirecte)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07822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508760" y="4133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Roulis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4864608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0 — turbines différentielles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33672" y="39502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407822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285232" y="4133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34840" y="4864608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0 — plateau 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10144" y="39502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/>
        </p:spPr>
      </p:sp>
      <p:sp>
        <p:nvSpPr>
          <p:cNvPr id="28" name="Text 26"/>
          <p:cNvSpPr/>
          <p:nvPr/>
        </p:nvSpPr>
        <p:spPr>
          <a:xfrm>
            <a:off x="8211312" y="407822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9061704" y="4133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11312" y="4864608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0 — plateau 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: de la mesure à la poussée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42832" y="29260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8942832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45168" y="2926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 ·  </a:t>
            </a: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φ, θ, ψ =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450592" cy="2880360"/>
          </a:xfrm>
          <a:prstGeom prst="roundRect">
            <a:avLst>
              <a:gd name="adj" fmla="val 2985"/>
            </a:avLst>
          </a:prstGeom>
          <a:solidFill>
            <a:srgbClr val="EAF1FD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63624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947672"/>
            <a:ext cx="204825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Xsens : φ, θ, ψ + gyro + accél.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lidars : altitude Z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capteurs Hall : angle des 2 plateaux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55264" y="1417320"/>
            <a:ext cx="2450592" cy="2880360"/>
          </a:xfrm>
          <a:prstGeom prst="roundRect">
            <a:avLst>
              <a:gd name="adj" fmla="val 2985"/>
            </a:avLst>
          </a:prstGeom>
          <a:solidFill>
            <a:srgbClr val="FFEDE5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563624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Régulateurs (PID)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6432" y="1947672"/>
            <a:ext cx="204825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Altitude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Roulis, Tangage, Lacet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position × 2 (plateaux)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53328" y="1417320"/>
            <a:ext cx="2450592" cy="2880360"/>
          </a:xfrm>
          <a:prstGeom prst="roundRect">
            <a:avLst>
              <a:gd name="adj" fmla="val 2985"/>
            </a:avLst>
          </a:prstGeom>
          <a:solidFill>
            <a:srgbClr val="E9ECF4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563624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Actionneurs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54496" y="1947672"/>
            <a:ext cx="204825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turbines (poussée + roulis)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moteurs CC (plateaux 1 et 2)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51392" y="1417320"/>
            <a:ext cx="2450592" cy="2880360"/>
          </a:xfrm>
          <a:prstGeom prst="roundRect">
            <a:avLst>
              <a:gd name="adj" fmla="val 2985"/>
            </a:avLst>
          </a:prstGeom>
          <a:solidFill>
            <a:srgbClr val="F1F1F3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1563624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physique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1947672"/>
            <a:ext cx="204825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de l'engin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Z, φ, θ, 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x, y en conséquence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07792" y="2857500"/>
            <a:ext cx="347472" cy="0"/>
          </a:xfrm>
          <a:prstGeom prst="line">
            <a:avLst/>
          </a:prstGeom>
          <a:noFill/>
          <a:ln w="22225">
            <a:solidFill>
              <a:srgbClr val="0B1B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05856" y="2857500"/>
            <a:ext cx="347472" cy="0"/>
          </a:xfrm>
          <a:prstGeom prst="line">
            <a:avLst/>
          </a:prstGeom>
          <a:noFill/>
          <a:ln w="22225">
            <a:solidFill>
              <a:srgbClr val="0B1B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2857500"/>
            <a:ext cx="347472" cy="0"/>
          </a:xfrm>
          <a:prstGeom prst="line">
            <a:avLst/>
          </a:prstGeom>
          <a:noFill/>
          <a:ln w="22225">
            <a:solidFill>
              <a:srgbClr val="0B1B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76688" y="4983480"/>
            <a:ext cx="0" cy="0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82496" y="4983480"/>
            <a:ext cx="0" cy="0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682496" y="4690872"/>
            <a:ext cx="8394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mesure — pas Ts = 10 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1DEF378D-A176-46FC-B451-C37084A1600C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5140270" y="650650"/>
            <a:ext cx="1289388" cy="85834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057BAB20-D759-4164-BC68-6D34BB9AF439}"/>
              </a:ext>
            </a:extLst>
          </p:cNvPr>
          <p:cNvCxnSpPr/>
          <p:nvPr/>
        </p:nvCxnSpPr>
        <p:spPr>
          <a:xfrm flipV="1">
            <a:off x="1493240" y="4297680"/>
            <a:ext cx="0" cy="1289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Axe Z — le seul mouvement autorisé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42832" y="29260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8942832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45168" y="2926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 ·  </a:t>
            </a: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φ, θ, ψ =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EDE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17904"/>
            <a:ext cx="5888736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· h''(t) = F(t) − m·g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F(t) = k_poussée · duty_poussée(t)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6400800" cy="3063240"/>
          </a:xfrm>
          <a:prstGeom prst="roundRect">
            <a:avLst>
              <a:gd name="adj" fmla="val 2388"/>
            </a:avLst>
          </a:prstGeom>
          <a:solidFill>
            <a:srgbClr val="F1F1F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209544"/>
            <a:ext cx="5998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dit l'équation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593592"/>
            <a:ext cx="5998464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poussée totale F(t) des 4 turbines s'oppose au poids m·g.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 est la seule position que le système cherche activement à amener à une valeur non nulle (la consigne d'altitude).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PID_Altitude ajuste duty_poussée pour faire converger h vers la consigne, avec anti-windup (l'intégrale ne s'emballe pas si la sortie sature).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66760" y="2834640"/>
            <a:ext cx="640080" cy="1005840"/>
          </a:xfrm>
          <a:prstGeom prst="triangle">
            <a:avLst/>
          </a:prstGeom>
          <a:solidFill>
            <a:srgbClr val="0B1B33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0" y="3749040"/>
            <a:ext cx="457200" cy="64008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2743200"/>
            <a:ext cx="0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91540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0" cy="822960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915400" y="4754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m·g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43800" y="3474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F4C798A-4EC3-4B98-B388-F708C59A16B0}"/>
              </a:ext>
            </a:extLst>
          </p:cNvPr>
          <p:cNvCxnSpPr>
            <a:stCxn id="11" idx="0"/>
          </p:cNvCxnSpPr>
          <p:nvPr/>
        </p:nvCxnSpPr>
        <p:spPr>
          <a:xfrm flipV="1">
            <a:off x="8686800" y="1517904"/>
            <a:ext cx="0" cy="13167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Image 21">
            <a:extLst>
              <a:ext uri="{FF2B5EF4-FFF2-40B4-BE49-F238E27FC236}">
                <a16:creationId xmlns:a16="http://schemas.microsoft.com/office/drawing/2014/main" id="{013F1B69-C07F-41E6-924C-0FDB90985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039" y="2612629"/>
            <a:ext cx="2260593" cy="20442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Couple de roulis des turbines</a:t>
            </a:r>
            <a:endParaRPr lang="en-US" sz="4267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autour de l'axe Z créé par 2 paires de turbines (vue de dessus)</a:t>
            </a:r>
            <a:endParaRPr lang="en-US" sz="1867" dirty="0"/>
          </a:p>
        </p:txBody>
      </p:sp>
      <p:pic>
        <p:nvPicPr>
          <p:cNvPr id="4" name="Image 0" descr="/mnt/user-data/uploads/179059671956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06880"/>
            <a:ext cx="3901440" cy="3304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5291328"/>
            <a:ext cx="207264" cy="20726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75360" y="5242560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bleu : couple +  (anti-horaire)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9600" y="5681472"/>
            <a:ext cx="207264" cy="207264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75360" y="5632704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vert : couple −  (horaire)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6022848"/>
            <a:ext cx="3901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turbine : C</a:t>
            </a:r>
            <a:r>
              <a:rPr lang="en-US" sz="1600" b="1" baseline="-40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± R · F</a:t>
            </a:r>
            <a:r>
              <a:rPr lang="en-US" sz="1600" b="1" baseline="-40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42560" y="1706880"/>
            <a:ext cx="6339840" cy="877824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25440" y="1938528"/>
            <a:ext cx="414528" cy="4145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25440" y="193852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1792224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couple de turbines (même couleur)</a:t>
            </a:r>
            <a:endParaRPr lang="en-US" sz="1467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072640"/>
            <a:ext cx="536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2 · R · F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242560" y="2731008"/>
            <a:ext cx="6339840" cy="877824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25440" y="2962656"/>
            <a:ext cx="414528" cy="4145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25440" y="296265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2816352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turbines</a:t>
            </a:r>
            <a:endParaRPr lang="en-US" sz="1467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3096768"/>
            <a:ext cx="536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R (F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F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F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F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2R (F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F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242560" y="3755136"/>
            <a:ext cx="6339840" cy="877824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25440" y="3986784"/>
            <a:ext cx="414528" cy="4145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25440" y="3986784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3840480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la commande u ∈ [−1 ; 1]</a:t>
            </a:r>
            <a:endParaRPr lang="en-US" sz="1467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4120896"/>
            <a:ext cx="536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 · R · F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u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242560" y="4779264"/>
            <a:ext cx="6339840" cy="877824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25440" y="5010912"/>
            <a:ext cx="414528" cy="4145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25440" y="5010912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035040" y="4864608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de roulis</a:t>
            </a:r>
            <a:endParaRPr lang="en-US" sz="1467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5145024"/>
            <a:ext cx="536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d²θ/dt² = C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⇒  d²θ/dt² = (2R·F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J</a:t>
            </a:r>
            <a:r>
              <a:rPr lang="en-US" sz="2000" b="1" baseline="-40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· u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5242560" y="5852160"/>
            <a:ext cx="6339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: bras de levier · Fmax ≈ 3,5 à 4,9 N par turbine · u : commande normalisée · Jz : inertie autour de Z</a:t>
            </a:r>
            <a:endParaRPr lang="en-US" sz="1333" dirty="0"/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135AF73-7CDC-4A44-9DEF-70F0009520BD}"/>
              </a:ext>
            </a:extLst>
          </p:cNvPr>
          <p:cNvCxnSpPr/>
          <p:nvPr/>
        </p:nvCxnSpPr>
        <p:spPr>
          <a:xfrm flipV="1">
            <a:off x="2509520" y="2816352"/>
            <a:ext cx="782320" cy="6126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472F5635-F447-45AA-BDA3-70ECCD44127B}"/>
              </a:ext>
            </a:extLst>
          </p:cNvPr>
          <p:cNvSpPr txBox="1"/>
          <p:nvPr/>
        </p:nvSpPr>
        <p:spPr>
          <a:xfrm rot="19336901">
            <a:off x="2580640" y="281635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Tangage θ et lacet ψ : les 2 plateaux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42832" y="29260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8942832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45168" y="2926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 ·  </a:t>
            </a: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φ, θ, ψ =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FFEDE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17904"/>
            <a:ext cx="10735056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I_θ · θ''(t) = k_plateau · θ1(t)          I_ψ · ψ''(t) = k_plateau · θ2(t)          consigne θ = ψ = 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1F1F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346704"/>
            <a:ext cx="5038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730752"/>
            <a:ext cx="503834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plateau (1 et 2) est incliné par son propre moteur à courant continu.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L'inclinaison dévie une partie du flux d'air : elle crée un couple de tangage (plateau 1) ou de lacet (plateau 2).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à confirmer sur le câblage réel : plateau 1 → tangage, plateau 2 → lacet.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3200400"/>
            <a:ext cx="5532120" cy="2926080"/>
          </a:xfrm>
          <a:prstGeom prst="roundRect">
            <a:avLst>
              <a:gd name="adj" fmla="val 2500"/>
            </a:avLst>
          </a:prstGeom>
          <a:solidFill>
            <a:srgbClr val="EAF1FD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3346704"/>
            <a:ext cx="5129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dans la boucle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73368" y="3730752"/>
            <a:ext cx="512978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PID_Pitch / PID_Yaw calculent, à partir de l'écart mesuré par l'IMU, l'angle de plateau à viser.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2ᵉ PID (position) pilote le moteur pour atteindre cet angle — voir l'équation du moteur, diapo suivante.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encore : consigne toujours nulle, seule la correction des perturbations est commandée.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L'actionneur : un moteur, un retard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42832" y="29260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8942832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45168" y="2926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 ·  </a:t>
            </a: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φ, θ, ψ =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400800" cy="1783080"/>
          </a:xfrm>
          <a:prstGeom prst="roundRect">
            <a:avLst>
              <a:gd name="adj" fmla="val 4103"/>
            </a:avLst>
          </a:prstGeom>
          <a:solidFill>
            <a:srgbClr val="FFEDE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17904"/>
            <a:ext cx="5888736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· θi''(t) + θi'(t) = K1 · ui(t) · charge(θi(t))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charge(θ) = 1 − 0,08 · sin(θ) / sin(3,3°)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6400800" cy="2834640"/>
          </a:xfrm>
          <a:prstGeom prst="roundRect">
            <a:avLst>
              <a:gd name="adj" fmla="val 2581"/>
            </a:avLst>
          </a:prstGeom>
          <a:solidFill>
            <a:srgbClr val="F1F1F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483864"/>
            <a:ext cx="5998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 de cette équation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867912"/>
            <a:ext cx="5998464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ordre : la commande PID ui(t) ne se traduit pas instantanément en angle — il y a un retard, caractérisé par la constante de temps 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: vitesse angulaire maximale atteignable (°/s) pour une commande maximale.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charge(θ) modélise un couple résistant — valable seulement pour de petits angles (au-delà d'environ 46°, le modèle n'est plus physique).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52360" y="3154680"/>
            <a:ext cx="0" cy="192024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5074920"/>
            <a:ext cx="3840480" cy="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3291840"/>
            <a:ext cx="3840480" cy="0"/>
          </a:xfrm>
          <a:prstGeom prst="line">
            <a:avLst/>
          </a:prstGeom>
          <a:noFill/>
          <a:ln w="12700">
            <a:solidFill>
              <a:srgbClr val="8A93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452360" y="5074920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2380" y="4801185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569473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32420" y="4373333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4207304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2460" y="4066763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3947798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72500" y="3847097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3761855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92540" y="3689699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3628620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12580" y="3576918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3533154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32620" y="3496108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0" y="3464749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2660" y="3438204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12680" y="3415735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72700" y="3396714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32720" y="3380614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92740" y="3366986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52760" y="3355450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12780" y="3345684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0" y="3337418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32820" y="3330421"/>
            <a:ext cx="1600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θi(t)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0" y="5102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78040" y="5303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à un échelon de commande (1er ordre)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brique, réutilisée 7 fois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42832" y="29260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8942832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45168" y="2926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 ·  </a:t>
            </a: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φ, θ, ψ =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EDE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17904"/>
            <a:ext cx="10735056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u(t) = Kp·e(t)  +  Ki·∫e(τ)dτ  +  Kd·e'(t)          avec  e(t) = consigne(t) − mesure(t)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9900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30632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proportionnel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réagit à l'écart présent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2880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9900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330952" y="30632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intégral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 l'erreur qui persiste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880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29900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53144" y="30632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 / amortit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1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718304"/>
            <a:ext cx="10844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instances, 1 seule 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5102352"/>
            <a:ext cx="1084478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Altitude, Roulis, Tangage, Lacet, + 2 régulateurs de position (un par plateau) : même code, gains Kp/Ki/Kd propres à chacun.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réellement implémentée : forme récursive discrète (pas Ts = 10 ms), avec anti-windup sur la boucle d'altitude.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: qui commande quoi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42832" y="29260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8942832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45168" y="2926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 ·  </a:t>
            </a: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φ, θ, ψ =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713232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828800" cy="713232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41732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2194560" cy="713232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1732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417320"/>
            <a:ext cx="2468880" cy="713232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41732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Actionneur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1417320"/>
            <a:ext cx="2743200" cy="713232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4173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Régulateur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2011680" cy="713232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1305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(altitude)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468880" y="2130552"/>
            <a:ext cx="1828800" cy="713232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13055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2130552"/>
            <a:ext cx="2194560" cy="713232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13055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lidars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2130552"/>
            <a:ext cx="2468880" cy="713232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130552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turbines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61120" y="2130552"/>
            <a:ext cx="2743200" cy="713232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213055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PID_Altitude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2843784"/>
            <a:ext cx="201168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84378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(roulis)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468880" y="2843784"/>
            <a:ext cx="182880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84378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97680" y="2843784"/>
            <a:ext cx="219456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284378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Xsens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92240" y="2843784"/>
            <a:ext cx="246888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843784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 (diff.)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61120" y="2843784"/>
            <a:ext cx="274320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284378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PID_Roll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3557016"/>
            <a:ext cx="20116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55701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(tangage)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468880" y="3557016"/>
            <a:ext cx="1828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355701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297680" y="3557016"/>
            <a:ext cx="2194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3557016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Xsens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92240" y="3557016"/>
            <a:ext cx="2468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3557016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1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961120" y="3557016"/>
            <a:ext cx="2743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98280" y="355701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PID_Pitch + servo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57200" y="4270248"/>
            <a:ext cx="201168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27024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(lacet)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468880" y="4270248"/>
            <a:ext cx="182880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427024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297680" y="4270248"/>
            <a:ext cx="219456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427024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Xsens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492240" y="4270248"/>
            <a:ext cx="246888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4270248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2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8961120" y="4270248"/>
            <a:ext cx="2743200" cy="713232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98280" y="427024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PID_Yaw + servo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57200" y="4983480"/>
            <a:ext cx="20116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498348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2468880" y="4983480"/>
            <a:ext cx="1828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06040" y="498348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(indirect)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297680" y="4983480"/>
            <a:ext cx="2194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34840" y="498348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6492240" y="4983480"/>
            <a:ext cx="2468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9400" y="498348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8961120" y="4983480"/>
            <a:ext cx="2743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98280" y="49834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de φ=θ=0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axe commandé (Z) — cinq axes stabilisés à zéro.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</Words>
  <Application>Microsoft Office PowerPoint</Application>
  <PresentationFormat>Grand écran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Julien THOMAS</cp:lastModifiedBy>
  <cp:revision>4</cp:revision>
  <dcterms:created xsi:type="dcterms:W3CDTF">2026-09-24T11:51:54Z</dcterms:created>
  <dcterms:modified xsi:type="dcterms:W3CDTF">2026-09-28T12:10:40Z</dcterms:modified>
</cp:coreProperties>
</file>