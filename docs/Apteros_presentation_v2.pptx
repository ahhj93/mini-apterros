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png" ContentType="image/png"/>
  <Override PartName="/ppt/media/image2.jpeg" ContentType="image/jpeg"/>
  <Override PartName="/ppt/media/image4.png" ContentType="image/png"/>
  <Override PartName="/ppt/media/image3.jpeg" ContentType="image/jpeg"/>
  <Override PartName="/ppt/media/image5.png" ContentType="image/png"/>
  <Override PartName="/ppt/media/image6.png" ContentType="image/png"/>
  <Override PartName="/ppt/media/image10.png" ContentType="image/png"/>
  <Override PartName="/ppt/media/image7.png" ContentType="image/png"/>
  <Override PartName="/ppt/media/image8.png" ContentType="image/png"/>
  <Override PartName="/ppt/media/image9.png" ContentType="image/png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notesSlides/_rels/notesSlide9.xml.rels" ContentType="application/vnd.openxmlformats-package.relationships+xml"/>
  <Override PartName="/ppt/notesSlides/_rels/notesSlide6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5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2.xml.rels" ContentType="application/vnd.openxmlformats-package.relationships+xml"/>
  <Override PartName="/ppt/notesSlides/_rels/notesSlide3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1.xml.rels" ContentType="application/vnd.openxmlformats-package.relationships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move the 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slide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957AFA1F-9EB0-4436-B5D9-A5D6AD0F594E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PlaceHolder 1"/>
          <p:cNvSpPr>
            <a:spLocks noGrp="1"/>
          </p:cNvSpPr>
          <p:nvPr>
            <p:ph type="sldImg"/>
          </p:nvPr>
        </p:nvSpPr>
        <p:spPr>
          <a:xfrm>
            <a:off x="-360" y="-360"/>
            <a:ext cx="720" cy="720"/>
          </a:xfrm>
          <a:prstGeom prst="rect">
            <a:avLst/>
          </a:prstGeom>
          <a:ln w="0">
            <a:noFill/>
          </a:ln>
        </p:spPr>
      </p:sp>
      <p:sp>
        <p:nvSpPr>
          <p:cNvPr id="34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7" name="PlaceHolder 3"/>
          <p:cNvSpPr>
            <a:spLocks noGrp="1"/>
          </p:cNvSpPr>
          <p:nvPr>
            <p:ph type="sldNum" idx="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A40C9E6B-E8FA-4360-81D0-424BE933E513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4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Source : Notice de fonctionnement Mini-Apterros ENSEA (2024), p. 4.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Le protocole vise le décollage, une montée à 1 m, un déplacement latéral de 3 m et un atterrissage contrôlé.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0" name="PlaceHolder 3"/>
          <p:cNvSpPr>
            <a:spLocks noGrp="1"/>
          </p:cNvSpPr>
          <p:nvPr>
            <p:ph type="sldNum" idx="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5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3" name="PlaceHolder 3"/>
          <p:cNvSpPr>
            <a:spLocks noGrp="1"/>
          </p:cNvSpPr>
          <p:nvPr>
            <p:ph type="sldNum" idx="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5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6" name="PlaceHolder 3"/>
          <p:cNvSpPr>
            <a:spLocks noGrp="1"/>
          </p:cNvSpPr>
          <p:nvPr>
            <p:ph type="sldNum" idx="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5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Synthèse matérielle reconstruite à partir de la version ODP fournie par João.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Composants et emplacement : Notice de fonctionnement Mini-Apterros ENSEA (2024), pp. 4-6.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9" name="PlaceHolder 3"/>
          <p:cNvSpPr>
            <a:spLocks noGrp="1"/>
          </p:cNvSpPr>
          <p:nvPr>
            <p:ph type="sldNum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6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Source : Notice de fonctionnement Mini-Apterros ENSEA (2024), pp. 4-5.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La structure comporte trois étages reliés par des tubes en aluminium.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2" name="PlaceHolder 3"/>
          <p:cNvSpPr>
            <a:spLocks noGrp="1"/>
          </p:cNvSpPr>
          <p:nvPr>
            <p:ph type="sldNum" idx="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6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Sources : Notice de fonctionnement Mini-Apterros ENSEA (2024), pp. 6-16.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Les figures montrent la disposition des lidars et des turbines. Les descriptions résument les sections Lidar, Turbines, ESC, Centrale inertielle, Moteurs CC et Capteurs Hall.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Le contrôleur est volontairement présenté de manière générique, car le modèle initial sera remplacé.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5" name="PlaceHolder 3"/>
          <p:cNvSpPr>
            <a:spLocks noGrp="1"/>
          </p:cNvSpPr>
          <p:nvPr>
            <p:ph type="sldNum" idx="1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6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Source : Notice de fonctionnement Mini-Apterros ENSEA (2024), pp. 5-6.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L'inclinaison du plateau est assurée par deux mécanismes bielle-manivelle, ce qui permet une orientation dans deux directions.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Les composantes F cos(alpha) et F sin(alpha) explicitent la décomposition de la poussée après inclinaison.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8" name="PlaceHolder 3"/>
          <p:cNvSpPr>
            <a:spLocks noGrp="1"/>
          </p:cNvSpPr>
          <p:nvPr>
            <p:ph type="sldNum" idx="1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7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1" name="PlaceHolder 3"/>
          <p:cNvSpPr>
            <a:spLocks noGrp="1"/>
          </p:cNvSpPr>
          <p:nvPr>
            <p:ph type="sldNum" idx="1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7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4" name="PlaceHolder 3"/>
          <p:cNvSpPr>
            <a:spLocks noGrp="1"/>
          </p:cNvSpPr>
          <p:nvPr>
            <p:ph type="sldNum" idx="1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7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7" name="PlaceHolder 3"/>
          <p:cNvSpPr>
            <a:spLocks noGrp="1"/>
          </p:cNvSpPr>
          <p:nvPr>
            <p:ph type="sldNum" idx="1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7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0" name="PlaceHolder 3"/>
          <p:cNvSpPr>
            <a:spLocks noGrp="1"/>
          </p:cNvSpPr>
          <p:nvPr>
            <p:ph type="sldNum" idx="1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8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3" name="PlaceHolder 3"/>
          <p:cNvSpPr>
            <a:spLocks noGrp="1"/>
          </p:cNvSpPr>
          <p:nvPr>
            <p:ph type="sldNum" idx="1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8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6" name="PlaceHolder 3"/>
          <p:cNvSpPr>
            <a:spLocks noGrp="1"/>
          </p:cNvSpPr>
          <p:nvPr>
            <p:ph type="sldNum" idx="1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8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9" name="PlaceHolder 3"/>
          <p:cNvSpPr>
            <a:spLocks noGrp="1"/>
          </p:cNvSpPr>
          <p:nvPr>
            <p:ph type="sldNum" idx="1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1" descr=""/>
          <p:cNvPicPr/>
          <p:nvPr/>
        </p:nvPicPr>
        <p:blipFill>
          <a:blip r:embed="rId1"/>
          <a:stretch/>
        </p:blipFill>
        <p:spPr>
          <a:xfrm>
            <a:off x="5639040" y="167400"/>
            <a:ext cx="6366960" cy="3581280"/>
          </a:xfrm>
          <a:prstGeom prst="rect">
            <a:avLst/>
          </a:prstGeom>
          <a:ln w="0">
            <a:noFill/>
          </a:ln>
        </p:spPr>
      </p:pic>
      <p:sp>
        <p:nvSpPr>
          <p:cNvPr id="9" name="Text 30"/>
          <p:cNvSpPr/>
          <p:nvPr/>
        </p:nvSpPr>
        <p:spPr>
          <a:xfrm>
            <a:off x="640080" y="2331720"/>
            <a:ext cx="77720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400" spc="-1" strike="noStrike">
                <a:solidFill>
                  <a:srgbClr val="ffffff"/>
                </a:solidFill>
                <a:latin typeface="Cambria"/>
                <a:ea typeface="Cambria"/>
              </a:rPr>
              <a:t>A</a:t>
            </a:r>
            <a:r>
              <a:rPr b="1" lang="en-US" sz="5400" spc="-1" strike="noStrike">
                <a:solidFill>
                  <a:srgbClr val="ffffff"/>
                </a:solidFill>
                <a:latin typeface="Cambria"/>
                <a:ea typeface="Cambria"/>
              </a:rPr>
              <a:t>P</a:t>
            </a:r>
            <a:r>
              <a:rPr b="1" lang="en-US" sz="5400" spc="-1" strike="noStrike">
                <a:solidFill>
                  <a:srgbClr val="ffffff"/>
                </a:solidFill>
                <a:latin typeface="Cambria"/>
                <a:ea typeface="Cambria"/>
              </a:rPr>
              <a:t>T</a:t>
            </a:r>
            <a:r>
              <a:rPr b="1" lang="en-US" sz="5400" spc="-1" strike="noStrike">
                <a:solidFill>
                  <a:srgbClr val="ffffff"/>
                </a:solidFill>
                <a:latin typeface="Cambria"/>
                <a:ea typeface="Cambria"/>
              </a:rPr>
              <a:t>E</a:t>
            </a:r>
            <a:r>
              <a:rPr b="1" lang="en-US" sz="5400" spc="-1" strike="noStrike">
                <a:solidFill>
                  <a:srgbClr val="ffffff"/>
                </a:solidFill>
                <a:latin typeface="Cambria"/>
                <a:ea typeface="Cambria"/>
              </a:rPr>
              <a:t>R</a:t>
            </a:r>
            <a:r>
              <a:rPr b="1" lang="en-US" sz="5400" spc="-1" strike="noStrike">
                <a:solidFill>
                  <a:srgbClr val="ffffff"/>
                </a:solidFill>
                <a:latin typeface="Cambria"/>
                <a:ea typeface="Cambria"/>
              </a:rPr>
              <a:t>O</a:t>
            </a:r>
            <a:r>
              <a:rPr b="1" lang="en-US" sz="5400" spc="-1" strike="noStrike">
                <a:solidFill>
                  <a:srgbClr val="ffffff"/>
                </a:solidFill>
                <a:latin typeface="Cambria"/>
                <a:ea typeface="Cambria"/>
              </a:rPr>
              <a:t>S</a:t>
            </a:r>
            <a:endParaRPr b="0" lang="en-US" sz="5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Text 32"/>
          <p:cNvSpPr/>
          <p:nvPr/>
        </p:nvSpPr>
        <p:spPr>
          <a:xfrm>
            <a:off x="640080" y="3246120"/>
            <a:ext cx="79549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900" spc="-1" strike="noStrike">
                <a:solidFill>
                  <a:srgbClr val="cadcfc"/>
                </a:solidFill>
                <a:latin typeface="Calibri"/>
                <a:ea typeface="Calibri"/>
              </a:rPr>
              <a:t>Simulation et commande d'un engin à décollage vertical</a:t>
            </a:r>
            <a:endParaRPr b="0" lang="en-US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Text 34"/>
          <p:cNvSpPr/>
          <p:nvPr/>
        </p:nvSpPr>
        <p:spPr>
          <a:xfrm>
            <a:off x="640080" y="3886200"/>
            <a:ext cx="75891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9fb2d6"/>
                </a:solidFill>
                <a:latin typeface="Calibri"/>
                <a:ea typeface="Calibri"/>
              </a:rPr>
              <a:t>Un seul degré de liberté </a:t>
            </a:r>
            <a:r>
              <a:rPr b="0" i="1" lang="en-US" sz="1400" spc="-1" strike="noStrike">
                <a:solidFill>
                  <a:srgbClr val="9fb2d6"/>
                </a:solidFill>
                <a:latin typeface="Calibri"/>
                <a:ea typeface="Calibri"/>
              </a:rPr>
              <a:t>commandé : l'altitude (Z).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9fb2d6"/>
                </a:solidFill>
                <a:latin typeface="Calibri"/>
                <a:ea typeface="Calibri"/>
              </a:rPr>
              <a:t>Les cinq autres — x, y, roulis, </a:t>
            </a:r>
            <a:r>
              <a:rPr b="0" i="1" lang="en-US" sz="1400" spc="-1" strike="noStrike">
                <a:solidFill>
                  <a:srgbClr val="9fb2d6"/>
                </a:solidFill>
                <a:latin typeface="Calibri"/>
                <a:ea typeface="Calibri"/>
              </a:rPr>
              <a:t>tangage, lacet — sont </a:t>
            </a:r>
            <a:r>
              <a:rPr b="0" i="1" lang="en-US" sz="1400" spc="-1" strike="noStrike">
                <a:solidFill>
                  <a:srgbClr val="9fb2d6"/>
                </a:solidFill>
                <a:latin typeface="Calibri"/>
                <a:ea typeface="Calibri"/>
              </a:rPr>
              <a:t>maintenus à zéro.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Text 40"/>
          <p:cNvSpPr/>
          <p:nvPr/>
        </p:nvSpPr>
        <p:spPr>
          <a:xfrm>
            <a:off x="640080" y="6035040"/>
            <a:ext cx="5486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6e7fa3"/>
                </a:solidFill>
                <a:latin typeface="Calibri"/>
                <a:ea typeface="Calibri"/>
              </a:rPr>
              <a:t>J</a:t>
            </a:r>
            <a:r>
              <a:rPr b="0" lang="en-US" sz="1300" spc="-1" strike="noStrike">
                <a:solidFill>
                  <a:srgbClr val="6e7fa3"/>
                </a:solidFill>
                <a:latin typeface="Calibri"/>
                <a:ea typeface="Calibri"/>
              </a:rPr>
              <a:t>u</a:t>
            </a:r>
            <a:r>
              <a:rPr b="0" lang="en-US" sz="1300" spc="-1" strike="noStrike">
                <a:solidFill>
                  <a:srgbClr val="6e7fa3"/>
                </a:solidFill>
                <a:latin typeface="Calibri"/>
                <a:ea typeface="Calibri"/>
              </a:rPr>
              <a:t>li</a:t>
            </a:r>
            <a:r>
              <a:rPr b="0" lang="en-US" sz="1300" spc="-1" strike="noStrike">
                <a:solidFill>
                  <a:srgbClr val="6e7fa3"/>
                </a:solidFill>
                <a:latin typeface="Calibri"/>
                <a:ea typeface="Calibri"/>
              </a:rPr>
              <a:t>e</a:t>
            </a:r>
            <a:r>
              <a:rPr b="0" lang="en-US" sz="1300" spc="-1" strike="noStrike">
                <a:solidFill>
                  <a:srgbClr val="6e7fa3"/>
                </a:solidFill>
                <a:latin typeface="Calibri"/>
                <a:ea typeface="Calibri"/>
              </a:rPr>
              <a:t>n </a:t>
            </a:r>
            <a:r>
              <a:rPr b="0" lang="en-US" sz="1300" spc="-1" strike="noStrike">
                <a:solidFill>
                  <a:srgbClr val="6e7fa3"/>
                </a:solidFill>
                <a:latin typeface="Calibri"/>
                <a:ea typeface="Calibri"/>
              </a:rPr>
              <a:t>T</a:t>
            </a:r>
            <a:r>
              <a:rPr b="0" lang="en-US" sz="1300" spc="-1" strike="noStrike">
                <a:solidFill>
                  <a:srgbClr val="6e7fa3"/>
                </a:solidFill>
                <a:latin typeface="Calibri"/>
                <a:ea typeface="Calibri"/>
              </a:rPr>
              <a:t>h</a:t>
            </a:r>
            <a:r>
              <a:rPr b="0" lang="en-US" sz="1300" spc="-1" strike="noStrike">
                <a:solidFill>
                  <a:srgbClr val="6e7fa3"/>
                </a:solidFill>
                <a:latin typeface="Calibri"/>
                <a:ea typeface="Calibri"/>
              </a:rPr>
              <a:t>o</a:t>
            </a:r>
            <a:r>
              <a:rPr b="0" lang="en-US" sz="1300" spc="-1" strike="noStrike">
                <a:solidFill>
                  <a:srgbClr val="6e7fa3"/>
                </a:solidFill>
                <a:latin typeface="Calibri"/>
                <a:ea typeface="Calibri"/>
              </a:rPr>
              <a:t>m</a:t>
            </a:r>
            <a:r>
              <a:rPr b="0" lang="en-US" sz="1300" spc="-1" strike="noStrike">
                <a:solidFill>
                  <a:srgbClr val="6e7fa3"/>
                </a:solidFill>
                <a:latin typeface="Calibri"/>
                <a:ea typeface="Calibri"/>
              </a:rPr>
              <a:t>a</a:t>
            </a:r>
            <a:r>
              <a:rPr b="0" lang="en-US" sz="1300" spc="-1" strike="noStrike">
                <a:solidFill>
                  <a:srgbClr val="6e7fa3"/>
                </a:solidFill>
                <a:latin typeface="Calibri"/>
                <a:ea typeface="Calibri"/>
              </a:rPr>
              <a:t>s  </a:t>
            </a:r>
            <a:r>
              <a:rPr b="0" lang="en-US" sz="1300" spc="-1" strike="noStrike">
                <a:solidFill>
                  <a:srgbClr val="6e7fa3"/>
                </a:solidFill>
                <a:latin typeface="Calibri"/>
                <a:ea typeface="Calibri"/>
              </a:rPr>
              <a:t>—</a:t>
            </a:r>
            <a:r>
              <a:rPr b="0" lang="en-US" sz="1300" spc="-1" strike="noStrike">
                <a:solidFill>
                  <a:srgbClr val="6e7fa3"/>
                </a:solidFill>
                <a:latin typeface="Calibri"/>
                <a:ea typeface="Calibri"/>
              </a:rPr>
              <a:t>  </a:t>
            </a:r>
            <a:r>
              <a:rPr b="0" lang="en-US" sz="1300" spc="-1" strike="noStrike">
                <a:solidFill>
                  <a:srgbClr val="6e7fa3"/>
                </a:solidFill>
                <a:latin typeface="Calibri"/>
                <a:ea typeface="Calibri"/>
              </a:rPr>
              <a:t>E</a:t>
            </a:r>
            <a:r>
              <a:rPr b="0" lang="en-US" sz="1300" spc="-1" strike="noStrike">
                <a:solidFill>
                  <a:srgbClr val="6e7fa3"/>
                </a:solidFill>
                <a:latin typeface="Calibri"/>
                <a:ea typeface="Calibri"/>
              </a:rPr>
              <a:t>N</a:t>
            </a:r>
            <a:r>
              <a:rPr b="0" lang="en-US" sz="1300" spc="-1" strike="noStrike">
                <a:solidFill>
                  <a:srgbClr val="6e7fa3"/>
                </a:solidFill>
                <a:latin typeface="Calibri"/>
                <a:ea typeface="Calibri"/>
              </a:rPr>
              <a:t>S</a:t>
            </a:r>
            <a:r>
              <a:rPr b="0" lang="en-US" sz="1300" spc="-1" strike="noStrike">
                <a:solidFill>
                  <a:srgbClr val="6e7fa3"/>
                </a:solidFill>
                <a:latin typeface="Calibri"/>
                <a:ea typeface="Calibri"/>
              </a:rPr>
              <a:t>E</a:t>
            </a:r>
            <a:r>
              <a:rPr b="0" lang="en-US" sz="1300" spc="-1" strike="noStrike">
                <a:solidFill>
                  <a:srgbClr val="6e7fa3"/>
                </a:solidFill>
                <a:latin typeface="Calibri"/>
                <a:ea typeface="Calibri"/>
              </a:rPr>
              <a:t>A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6e7fa3"/>
                </a:solidFill>
                <a:latin typeface="Calibri"/>
                <a:ea typeface="Calibri"/>
              </a:rPr>
              <a:t>J</a:t>
            </a:r>
            <a:r>
              <a:rPr b="0" lang="en-US" sz="1300" spc="-1" strike="noStrike">
                <a:solidFill>
                  <a:srgbClr val="6e7fa3"/>
                </a:solidFill>
                <a:latin typeface="Calibri"/>
                <a:ea typeface="Calibri"/>
              </a:rPr>
              <a:t>o</a:t>
            </a:r>
            <a:r>
              <a:rPr b="0" lang="en-US" sz="1300" spc="-1" strike="noStrike">
                <a:solidFill>
                  <a:srgbClr val="6e7fa3"/>
                </a:solidFill>
                <a:latin typeface="Calibri"/>
                <a:ea typeface="Calibri"/>
              </a:rPr>
              <a:t>ã</a:t>
            </a:r>
            <a:r>
              <a:rPr b="0" lang="en-US" sz="1300" spc="-1" strike="noStrike">
                <a:solidFill>
                  <a:srgbClr val="6e7fa3"/>
                </a:solidFill>
                <a:latin typeface="Calibri"/>
                <a:ea typeface="Calibri"/>
              </a:rPr>
              <a:t>o </a:t>
            </a:r>
            <a:r>
              <a:rPr b="0" lang="en-US" sz="1300" spc="-1" strike="noStrike">
                <a:solidFill>
                  <a:srgbClr val="6e7fa3"/>
                </a:solidFill>
                <a:latin typeface="Calibri"/>
                <a:ea typeface="Calibri"/>
              </a:rPr>
              <a:t>C</a:t>
            </a:r>
            <a:r>
              <a:rPr b="0" lang="en-US" sz="1300" spc="-1" strike="noStrike">
                <a:solidFill>
                  <a:srgbClr val="6e7fa3"/>
                </a:solidFill>
                <a:latin typeface="Calibri"/>
                <a:ea typeface="Calibri"/>
              </a:rPr>
              <a:t>e</a:t>
            </a:r>
            <a:r>
              <a:rPr b="0" lang="en-US" sz="1300" spc="-1" strike="noStrike">
                <a:solidFill>
                  <a:srgbClr val="6e7fa3"/>
                </a:solidFill>
                <a:latin typeface="Calibri"/>
                <a:ea typeface="Calibri"/>
              </a:rPr>
              <a:t>r</a:t>
            </a:r>
            <a:r>
              <a:rPr b="0" lang="en-US" sz="1300" spc="-1" strike="noStrike">
                <a:solidFill>
                  <a:srgbClr val="6e7fa3"/>
                </a:solidFill>
                <a:latin typeface="Calibri"/>
                <a:ea typeface="Calibri"/>
              </a:rPr>
              <a:t>q</a:t>
            </a:r>
            <a:r>
              <a:rPr b="0" lang="en-US" sz="1300" spc="-1" strike="noStrike">
                <a:solidFill>
                  <a:srgbClr val="6e7fa3"/>
                </a:solidFill>
                <a:latin typeface="Calibri"/>
                <a:ea typeface="Calibri"/>
              </a:rPr>
              <a:t>u</a:t>
            </a:r>
            <a:r>
              <a:rPr b="0" lang="en-US" sz="1300" spc="-1" strike="noStrike">
                <a:solidFill>
                  <a:srgbClr val="6e7fa3"/>
                </a:solidFill>
                <a:latin typeface="Calibri"/>
                <a:ea typeface="Calibri"/>
              </a:rPr>
              <a:t>ei</a:t>
            </a:r>
            <a:r>
              <a:rPr b="0" lang="en-US" sz="1300" spc="-1" strike="noStrike">
                <a:solidFill>
                  <a:srgbClr val="6e7fa3"/>
                </a:solidFill>
                <a:latin typeface="Calibri"/>
                <a:ea typeface="Calibri"/>
              </a:rPr>
              <a:t>r</a:t>
            </a:r>
            <a:r>
              <a:rPr b="0" lang="en-US" sz="1300" spc="-1" strike="noStrike">
                <a:solidFill>
                  <a:srgbClr val="6e7fa3"/>
                </a:solidFill>
                <a:latin typeface="Calibri"/>
                <a:ea typeface="Calibri"/>
              </a:rPr>
              <a:t>a </a:t>
            </a:r>
            <a:r>
              <a:rPr b="0" lang="en-US" sz="1300" spc="-1" strike="noStrike">
                <a:solidFill>
                  <a:srgbClr val="6e7fa3"/>
                </a:solidFill>
                <a:latin typeface="Calibri"/>
                <a:ea typeface="Calibri"/>
              </a:rPr>
              <a:t>—</a:t>
            </a:r>
            <a:r>
              <a:rPr b="0" lang="en-US" sz="1300" spc="-1" strike="noStrike">
                <a:solidFill>
                  <a:srgbClr val="6e7fa3"/>
                </a:solidFill>
                <a:latin typeface="Calibri"/>
                <a:ea typeface="Calibri"/>
              </a:rPr>
              <a:t> </a:t>
            </a:r>
            <a:r>
              <a:rPr b="0" lang="en-US" sz="1300" spc="-1" strike="noStrike">
                <a:solidFill>
                  <a:srgbClr val="6e7fa3"/>
                </a:solidFill>
                <a:latin typeface="Calibri"/>
                <a:ea typeface="Calibri"/>
              </a:rPr>
              <a:t>E</a:t>
            </a:r>
            <a:r>
              <a:rPr b="0" lang="en-US" sz="1300" spc="-1" strike="noStrike">
                <a:solidFill>
                  <a:srgbClr val="6e7fa3"/>
                </a:solidFill>
                <a:latin typeface="Calibri"/>
                <a:ea typeface="Calibri"/>
              </a:rPr>
              <a:t>N</a:t>
            </a:r>
            <a:r>
              <a:rPr b="0" lang="en-US" sz="1300" spc="-1" strike="noStrike">
                <a:solidFill>
                  <a:srgbClr val="6e7fa3"/>
                </a:solidFill>
                <a:latin typeface="Calibri"/>
                <a:ea typeface="Calibri"/>
              </a:rPr>
              <a:t>S</a:t>
            </a:r>
            <a:r>
              <a:rPr b="0" lang="en-US" sz="1300" spc="-1" strike="noStrike">
                <a:solidFill>
                  <a:srgbClr val="6e7fa3"/>
                </a:solidFill>
                <a:latin typeface="Calibri"/>
                <a:ea typeface="Calibri"/>
              </a:rPr>
              <a:t>E</a:t>
            </a:r>
            <a:r>
              <a:rPr b="0" lang="en-US" sz="1300" spc="-1" strike="noStrike">
                <a:solidFill>
                  <a:srgbClr val="6e7fa3"/>
                </a:solidFill>
                <a:latin typeface="Calibri"/>
                <a:ea typeface="Calibri"/>
              </a:rPr>
              <a:t>A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AutoShape 3"/>
          <p:cNvSpPr/>
          <p:nvPr/>
        </p:nvSpPr>
        <p:spPr>
          <a:xfrm>
            <a:off x="5943600" y="1112400"/>
            <a:ext cx="2468520" cy="246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endParaRPr b="0" lang="fr-FR" sz="18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4" name="Picture 2" descr="Projet MINI-APTERROS - Centre Spatial Universitaire de Nouvelle-Aquitaine"/>
          <p:cNvPicPr/>
          <p:nvPr/>
        </p:nvPicPr>
        <p:blipFill>
          <a:blip r:embed="rId2"/>
          <a:srcRect l="40576" t="41096" r="39874" b="33992"/>
          <a:stretch/>
        </p:blipFill>
        <p:spPr>
          <a:xfrm>
            <a:off x="9875520" y="3429000"/>
            <a:ext cx="1823400" cy="32911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mission-photo-panel-v4"/>
          <p:cNvSpPr/>
          <p:nvPr/>
        </p:nvSpPr>
        <p:spPr>
          <a:xfrm>
            <a:off x="7810560" y="1324080"/>
            <a:ext cx="3619080" cy="5009760"/>
          </a:xfrm>
          <a:prstGeom prst="roundRect">
            <a:avLst>
              <a:gd name="adj" fmla="val 2105"/>
            </a:avLst>
          </a:prstGeom>
          <a:solidFill>
            <a:srgbClr val="eaf1fd"/>
          </a:solidFill>
          <a:ln w="0">
            <a:solidFill>
              <a:srgbClr val="eaf1fd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"/>
          <p:cNvSpPr/>
          <p:nvPr/>
        </p:nvSpPr>
        <p:spPr>
          <a:xfrm>
            <a:off x="4295880" y="1752480"/>
            <a:ext cx="38052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"/>
          <p:cNvSpPr/>
          <p:nvPr/>
        </p:nvSpPr>
        <p:spPr>
          <a:xfrm>
            <a:off x="4295880" y="2419200"/>
            <a:ext cx="38052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"/>
          <p:cNvSpPr/>
          <p:nvPr/>
        </p:nvSpPr>
        <p:spPr>
          <a:xfrm>
            <a:off x="4295880" y="3314880"/>
            <a:ext cx="38052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"/>
          <p:cNvSpPr/>
          <p:nvPr/>
        </p:nvSpPr>
        <p:spPr>
          <a:xfrm>
            <a:off x="1666800" y="1866960"/>
            <a:ext cx="5143320" cy="590040"/>
          </a:xfrm>
          <a:prstGeom prst="roundRect">
            <a:avLst>
              <a:gd name="adj" fmla="val 12903"/>
            </a:avLst>
          </a:prstGeom>
          <a:solidFill>
            <a:srgbClr val="ffede5"/>
          </a:solidFill>
          <a:ln w="0">
            <a:solidFill>
              <a:srgbClr val="ffede5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"/>
          <p:cNvSpPr/>
          <p:nvPr/>
        </p:nvSpPr>
        <p:spPr>
          <a:xfrm>
            <a:off x="2000160" y="2009880"/>
            <a:ext cx="447624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en-US" sz="1500" spc="-1" strike="noStrike">
                <a:solidFill>
                  <a:srgbClr val="0b1b33"/>
                </a:solidFill>
                <a:latin typeface="Calibri"/>
                <a:ea typeface="Calibri"/>
              </a:rPr>
              <a:t>Décollage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mission-step-number-2-v4"/>
          <p:cNvSpPr/>
          <p:nvPr/>
        </p:nvSpPr>
        <p:spPr>
          <a:xfrm>
            <a:off x="990720" y="2943360"/>
            <a:ext cx="399600" cy="209160"/>
          </a:xfrm>
          <a:prstGeom prst="rect">
            <a:avLst/>
          </a:prstGeom>
          <a:noFill/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02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"/>
          <p:cNvSpPr/>
          <p:nvPr/>
        </p:nvSpPr>
        <p:spPr>
          <a:xfrm>
            <a:off x="1666800" y="2771640"/>
            <a:ext cx="5143320" cy="590040"/>
          </a:xfrm>
          <a:prstGeom prst="roundRect">
            <a:avLst>
              <a:gd name="adj" fmla="val 12903"/>
            </a:avLst>
          </a:prstGeom>
          <a:solidFill>
            <a:srgbClr val="eaf1fd"/>
          </a:solidFill>
          <a:ln w="0">
            <a:solidFill>
              <a:srgbClr val="eaf1fd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"/>
          <p:cNvSpPr/>
          <p:nvPr/>
        </p:nvSpPr>
        <p:spPr>
          <a:xfrm>
            <a:off x="2000160" y="2914560"/>
            <a:ext cx="447624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en-US" sz="1500" spc="-1" strike="noStrike">
                <a:solidFill>
                  <a:srgbClr val="0b1b33"/>
                </a:solidFill>
                <a:latin typeface="Calibri"/>
                <a:ea typeface="Calibri"/>
              </a:rPr>
              <a:t>Montée à 1 m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"/>
          <p:cNvSpPr/>
          <p:nvPr/>
        </p:nvSpPr>
        <p:spPr>
          <a:xfrm>
            <a:off x="1666800" y="3676680"/>
            <a:ext cx="5143320" cy="590040"/>
          </a:xfrm>
          <a:prstGeom prst="roundRect">
            <a:avLst>
              <a:gd name="adj" fmla="val 12903"/>
            </a:avLst>
          </a:prstGeom>
          <a:solidFill>
            <a:srgbClr val="f1f1f3"/>
          </a:solidFill>
          <a:ln w="0">
            <a:solidFill>
              <a:srgbClr val="f1f1f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"/>
          <p:cNvSpPr/>
          <p:nvPr/>
        </p:nvSpPr>
        <p:spPr>
          <a:xfrm>
            <a:off x="2000160" y="3819600"/>
            <a:ext cx="447624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en-US" sz="1500" spc="-1" strike="noStrike">
                <a:solidFill>
                  <a:srgbClr val="0b1b33"/>
                </a:solidFill>
                <a:latin typeface="Calibri"/>
                <a:ea typeface="Calibri"/>
              </a:rPr>
              <a:t>Déplacement latéral de 3 m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mission-step-number-4-v4"/>
          <p:cNvSpPr/>
          <p:nvPr/>
        </p:nvSpPr>
        <p:spPr>
          <a:xfrm>
            <a:off x="990720" y="4753080"/>
            <a:ext cx="399600" cy="209160"/>
          </a:xfrm>
          <a:prstGeom prst="rect">
            <a:avLst/>
          </a:prstGeom>
          <a:noFill/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04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"/>
          <p:cNvSpPr/>
          <p:nvPr/>
        </p:nvSpPr>
        <p:spPr>
          <a:xfrm>
            <a:off x="1666800" y="4581360"/>
            <a:ext cx="5143320" cy="590040"/>
          </a:xfrm>
          <a:prstGeom prst="roundRect">
            <a:avLst>
              <a:gd name="adj" fmla="val 12903"/>
            </a:avLst>
          </a:prstGeom>
          <a:solidFill>
            <a:srgbClr val="ffede5"/>
          </a:solidFill>
          <a:ln w="0">
            <a:solidFill>
              <a:srgbClr val="ffede5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"/>
          <p:cNvSpPr/>
          <p:nvPr/>
        </p:nvSpPr>
        <p:spPr>
          <a:xfrm>
            <a:off x="2000160" y="4724280"/>
            <a:ext cx="447624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en-US" sz="1500" spc="-1" strike="noStrike">
                <a:solidFill>
                  <a:srgbClr val="0b1b33"/>
                </a:solidFill>
                <a:latin typeface="Calibri"/>
                <a:ea typeface="Calibri"/>
              </a:rPr>
              <a:t>Atterrissage contrôlé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9" name="" descr=""/>
          <p:cNvPicPr/>
          <p:nvPr/>
        </p:nvPicPr>
        <p:blipFill>
          <a:blip r:embed="rId1"/>
          <a:srcRect l="4980" t="0" r="4980" b="0"/>
          <a:stretch/>
        </p:blipFill>
        <p:spPr>
          <a:xfrm>
            <a:off x="8020080" y="1476360"/>
            <a:ext cx="3161880" cy="4695480"/>
          </a:xfrm>
          <a:prstGeom prst="rect">
            <a:avLst/>
          </a:prstGeom>
          <a:ln w="0">
            <a:noFill/>
          </a:ln>
        </p:spPr>
      </p:pic>
      <p:sp>
        <p:nvSpPr>
          <p:cNvPr id="30" name="title"/>
          <p:cNvSpPr/>
          <p:nvPr/>
        </p:nvSpPr>
        <p:spPr>
          <a:xfrm>
            <a:off x="514440" y="304920"/>
            <a:ext cx="6762240" cy="55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en-US" sz="2800" spc="-1" strike="noStrike">
                <a:solidFill>
                  <a:srgbClr val="0b1b33"/>
                </a:solidFill>
                <a:latin typeface="Cambria"/>
                <a:ea typeface="Cambria"/>
              </a:rPr>
              <a:t>Mission du Mini-Apterros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mission-subtitle-v4"/>
          <p:cNvSpPr/>
          <p:nvPr/>
        </p:nvSpPr>
        <p:spPr>
          <a:xfrm>
            <a:off x="514440" y="933480"/>
            <a:ext cx="6571800" cy="285480"/>
          </a:xfrm>
          <a:prstGeom prst="rect">
            <a:avLst/>
          </a:prstGeom>
          <a:noFill/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350" spc="-1" strike="noStrike">
                <a:solidFill>
                  <a:srgbClr val="5b6472"/>
                </a:solidFill>
                <a:latin typeface="Calibri"/>
                <a:ea typeface="Calibri"/>
              </a:rPr>
              <a:t>Le vol à réaliser est défini par une trajectoire en quatre étapes.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mission-sequence-label-v4"/>
          <p:cNvSpPr/>
          <p:nvPr/>
        </p:nvSpPr>
        <p:spPr>
          <a:xfrm>
            <a:off x="1666800" y="1495440"/>
            <a:ext cx="2381040" cy="209160"/>
          </a:xfrm>
          <a:prstGeom prst="rect">
            <a:avLst/>
          </a:prstGeom>
          <a:noFill/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en-US" sz="1000" spc="-1" strike="noStrike">
                <a:solidFill>
                  <a:srgbClr val="b24a1e"/>
                </a:solidFill>
                <a:latin typeface="Calibri"/>
                <a:ea typeface="Calibri"/>
              </a:rPr>
              <a:t>SÉQUENCE À DÉMONTRER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mission-photo-caption-v4"/>
          <p:cNvSpPr/>
          <p:nvPr/>
        </p:nvSpPr>
        <p:spPr>
          <a:xfrm>
            <a:off x="8020080" y="6276960"/>
            <a:ext cx="3161880" cy="209160"/>
          </a:xfrm>
          <a:prstGeom prst="rect">
            <a:avLst/>
          </a:prstGeom>
          <a:noFill/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</a:pPr>
            <a:r>
              <a:rPr b="0" i="1" lang="en-US" sz="1000" spc="-1" strike="noStrike">
                <a:solidFill>
                  <a:srgbClr val="5b6472"/>
                </a:solidFill>
                <a:latin typeface="Calibri"/>
                <a:ea typeface="Calibri"/>
              </a:rPr>
              <a:t>Mini-Apterros, engin à décollage vertical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 0"/>
          <p:cNvSpPr/>
          <p:nvPr/>
        </p:nvSpPr>
        <p:spPr>
          <a:xfrm>
            <a:off x="457200" y="292680"/>
            <a:ext cx="77720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0b1b33"/>
                </a:solidFill>
                <a:latin typeface="Cambria"/>
                <a:ea typeface="Cambria"/>
              </a:rPr>
              <a:t>Objectif : un mouvement, cinq contraintes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Shape 1"/>
          <p:cNvSpPr/>
          <p:nvPr/>
        </p:nvSpPr>
        <p:spPr>
          <a:xfrm>
            <a:off x="8942760" y="292680"/>
            <a:ext cx="310680" cy="310680"/>
          </a:xfrm>
          <a:prstGeom prst="ellipse">
            <a:avLst/>
          </a:prstGeom>
          <a:solidFill>
            <a:srgbClr val="ff6b3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" name="Text 2"/>
          <p:cNvSpPr/>
          <p:nvPr/>
        </p:nvSpPr>
        <p:spPr>
          <a:xfrm>
            <a:off x="8942760" y="29268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Z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Text 3"/>
          <p:cNvSpPr/>
          <p:nvPr/>
        </p:nvSpPr>
        <p:spPr>
          <a:xfrm>
            <a:off x="9345240" y="292680"/>
            <a:ext cx="27428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35"/>
                </a:solidFill>
                <a:latin typeface="Calibri"/>
                <a:ea typeface="Calibri"/>
              </a:rPr>
              <a:t>libre  ·  </a:t>
            </a:r>
            <a:r>
              <a:rPr b="0" lang="en-US" sz="1100" spc="-1" strike="noStrike">
                <a:solidFill>
                  <a:srgbClr val="8a93a6"/>
                </a:solidFill>
                <a:latin typeface="Calibri"/>
                <a:ea typeface="Calibri"/>
              </a:rPr>
              <a:t>x, y, φ, θ, ψ = 0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Text 4"/>
          <p:cNvSpPr/>
          <p:nvPr/>
        </p:nvSpPr>
        <p:spPr>
          <a:xfrm>
            <a:off x="457200" y="1005840"/>
            <a:ext cx="112467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b1b33"/>
                </a:solidFill>
                <a:latin typeface="Calibri"/>
                <a:ea typeface="Calibri"/>
              </a:rPr>
              <a:t>L'engin possède 6 degrés de liberté (3 translations, 3 rotations). Le cahier des charges n'en autorise qu'un seul à varier :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Shape 5"/>
          <p:cNvSpPr/>
          <p:nvPr/>
        </p:nvSpPr>
        <p:spPr>
          <a:xfrm>
            <a:off x="457200" y="1691640"/>
            <a:ext cx="3520080" cy="1965600"/>
          </a:xfrm>
          <a:prstGeom prst="roundRect">
            <a:avLst>
              <a:gd name="adj" fmla="val 4186"/>
            </a:avLst>
          </a:prstGeom>
          <a:solidFill>
            <a:srgbClr val="ffed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Text 6"/>
          <p:cNvSpPr/>
          <p:nvPr/>
        </p:nvSpPr>
        <p:spPr>
          <a:xfrm>
            <a:off x="658440" y="1819800"/>
            <a:ext cx="9140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pc="-1" strike="noStrike">
                <a:solidFill>
                  <a:srgbClr val="ff6b35"/>
                </a:solidFill>
                <a:latin typeface="Cambria"/>
                <a:ea typeface="Cambria"/>
              </a:rPr>
              <a:t>Z</a:t>
            </a:r>
            <a:endParaRPr b="0" lang="en-US" sz="3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Text 7"/>
          <p:cNvSpPr/>
          <p:nvPr/>
        </p:nvSpPr>
        <p:spPr>
          <a:xfrm>
            <a:off x="1508760" y="1874520"/>
            <a:ext cx="2285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b1b33"/>
                </a:solidFill>
                <a:latin typeface="Calibri"/>
                <a:ea typeface="Calibri"/>
              </a:rPr>
              <a:t>Altitude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Text 8"/>
          <p:cNvSpPr/>
          <p:nvPr/>
        </p:nvSpPr>
        <p:spPr>
          <a:xfrm>
            <a:off x="658440" y="2606040"/>
            <a:ext cx="31176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b24a1e"/>
                </a:solidFill>
                <a:latin typeface="Calibri"/>
                <a:ea typeface="Calibri"/>
              </a:rPr>
              <a:t>Consigne libre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Shape 9"/>
          <p:cNvSpPr/>
          <p:nvPr/>
        </p:nvSpPr>
        <p:spPr>
          <a:xfrm>
            <a:off x="4233600" y="1691640"/>
            <a:ext cx="3520080" cy="1965600"/>
          </a:xfrm>
          <a:prstGeom prst="roundRect">
            <a:avLst>
              <a:gd name="adj" fmla="val 4186"/>
            </a:avLst>
          </a:prstGeom>
          <a:solidFill>
            <a:srgbClr val="f1f1f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Text 10"/>
          <p:cNvSpPr/>
          <p:nvPr/>
        </p:nvSpPr>
        <p:spPr>
          <a:xfrm>
            <a:off x="4434840" y="1819800"/>
            <a:ext cx="9140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pc="-1" strike="noStrike">
                <a:solidFill>
                  <a:srgbClr val="8a93a6"/>
                </a:solidFill>
                <a:latin typeface="Cambria"/>
                <a:ea typeface="Cambria"/>
              </a:rPr>
              <a:t>x</a:t>
            </a:r>
            <a:endParaRPr b="0" lang="en-US" sz="3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Text 11"/>
          <p:cNvSpPr/>
          <p:nvPr/>
        </p:nvSpPr>
        <p:spPr>
          <a:xfrm>
            <a:off x="5285160" y="1874520"/>
            <a:ext cx="2285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b1b33"/>
                </a:solidFill>
                <a:latin typeface="Calibri"/>
                <a:ea typeface="Calibri"/>
              </a:rPr>
              <a:t>Position latérale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Text 12"/>
          <p:cNvSpPr/>
          <p:nvPr/>
        </p:nvSpPr>
        <p:spPr>
          <a:xfrm>
            <a:off x="4434840" y="2606040"/>
            <a:ext cx="31176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50" spc="-1" strike="noStrike">
                <a:solidFill>
                  <a:srgbClr val="5b6472"/>
                </a:solidFill>
                <a:latin typeface="Calibri"/>
                <a:ea typeface="Calibri"/>
              </a:rPr>
              <a:t>Cible : 0 (non mesurée / indirecte)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Shape 13"/>
          <p:cNvSpPr/>
          <p:nvPr/>
        </p:nvSpPr>
        <p:spPr>
          <a:xfrm>
            <a:off x="8010000" y="1691640"/>
            <a:ext cx="3520080" cy="1965600"/>
          </a:xfrm>
          <a:prstGeom prst="roundRect">
            <a:avLst>
              <a:gd name="adj" fmla="val 4186"/>
            </a:avLst>
          </a:prstGeom>
          <a:solidFill>
            <a:srgbClr val="f1f1f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Text 14"/>
          <p:cNvSpPr/>
          <p:nvPr/>
        </p:nvSpPr>
        <p:spPr>
          <a:xfrm>
            <a:off x="8211240" y="1819800"/>
            <a:ext cx="9140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pc="-1" strike="noStrike">
                <a:solidFill>
                  <a:srgbClr val="8a93a6"/>
                </a:solidFill>
                <a:latin typeface="Cambria"/>
                <a:ea typeface="Cambria"/>
              </a:rPr>
              <a:t>y</a:t>
            </a:r>
            <a:endParaRPr b="0" lang="en-US" sz="3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Text 15"/>
          <p:cNvSpPr/>
          <p:nvPr/>
        </p:nvSpPr>
        <p:spPr>
          <a:xfrm>
            <a:off x="9061560" y="1874520"/>
            <a:ext cx="2285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b1b33"/>
                </a:solidFill>
                <a:latin typeface="Calibri"/>
                <a:ea typeface="Calibri"/>
              </a:rPr>
              <a:t>Position latérale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Text 16"/>
          <p:cNvSpPr/>
          <p:nvPr/>
        </p:nvSpPr>
        <p:spPr>
          <a:xfrm>
            <a:off x="8211240" y="2606040"/>
            <a:ext cx="31176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50" spc="-1" strike="noStrike">
                <a:solidFill>
                  <a:srgbClr val="5b6472"/>
                </a:solidFill>
                <a:latin typeface="Calibri"/>
                <a:ea typeface="Calibri"/>
              </a:rPr>
              <a:t>Cible : 0 (non mesurée / indirecte)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Shape 17"/>
          <p:cNvSpPr/>
          <p:nvPr/>
        </p:nvSpPr>
        <p:spPr>
          <a:xfrm>
            <a:off x="457200" y="3950280"/>
            <a:ext cx="3520080" cy="1965600"/>
          </a:xfrm>
          <a:prstGeom prst="roundRect">
            <a:avLst>
              <a:gd name="adj" fmla="val 4186"/>
            </a:avLst>
          </a:prstGeom>
          <a:solidFill>
            <a:srgbClr val="f1f1f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Text 18"/>
          <p:cNvSpPr/>
          <p:nvPr/>
        </p:nvSpPr>
        <p:spPr>
          <a:xfrm>
            <a:off x="658440" y="4078080"/>
            <a:ext cx="9140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pc="-1" strike="noStrike">
                <a:solidFill>
                  <a:srgbClr val="8a93a6"/>
                </a:solidFill>
                <a:latin typeface="Cambria"/>
                <a:ea typeface="Cambria"/>
              </a:rPr>
              <a:t>φ</a:t>
            </a:r>
            <a:endParaRPr b="0" lang="en-US" sz="3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Text 19"/>
          <p:cNvSpPr/>
          <p:nvPr/>
        </p:nvSpPr>
        <p:spPr>
          <a:xfrm>
            <a:off x="1508760" y="4133160"/>
            <a:ext cx="2285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b1b33"/>
                </a:solidFill>
                <a:latin typeface="Calibri"/>
                <a:ea typeface="Calibri"/>
              </a:rPr>
              <a:t>Roulis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Text 20"/>
          <p:cNvSpPr/>
          <p:nvPr/>
        </p:nvSpPr>
        <p:spPr>
          <a:xfrm>
            <a:off x="658440" y="4864680"/>
            <a:ext cx="31176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50" spc="-1" strike="noStrike">
                <a:solidFill>
                  <a:srgbClr val="5b6472"/>
                </a:solidFill>
                <a:latin typeface="Calibri"/>
                <a:ea typeface="Calibri"/>
              </a:rPr>
              <a:t>Cible : 0 — turbines différentielles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Shape 21"/>
          <p:cNvSpPr/>
          <p:nvPr/>
        </p:nvSpPr>
        <p:spPr>
          <a:xfrm>
            <a:off x="4233600" y="3950280"/>
            <a:ext cx="3520080" cy="1965600"/>
          </a:xfrm>
          <a:prstGeom prst="roundRect">
            <a:avLst>
              <a:gd name="adj" fmla="val 4186"/>
            </a:avLst>
          </a:prstGeom>
          <a:solidFill>
            <a:srgbClr val="f1f1f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Text 22"/>
          <p:cNvSpPr/>
          <p:nvPr/>
        </p:nvSpPr>
        <p:spPr>
          <a:xfrm>
            <a:off x="4434840" y="4078080"/>
            <a:ext cx="9140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pc="-1" strike="noStrike">
                <a:solidFill>
                  <a:srgbClr val="8a93a6"/>
                </a:solidFill>
                <a:latin typeface="Cambria"/>
                <a:ea typeface="Cambria"/>
              </a:rPr>
              <a:t>θ</a:t>
            </a:r>
            <a:endParaRPr b="0" lang="en-US" sz="3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Text 23"/>
          <p:cNvSpPr/>
          <p:nvPr/>
        </p:nvSpPr>
        <p:spPr>
          <a:xfrm>
            <a:off x="5285160" y="4133160"/>
            <a:ext cx="2285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b1b33"/>
                </a:solidFill>
                <a:latin typeface="Calibri"/>
                <a:ea typeface="Calibri"/>
              </a:rPr>
              <a:t>Tangage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Text 24"/>
          <p:cNvSpPr/>
          <p:nvPr/>
        </p:nvSpPr>
        <p:spPr>
          <a:xfrm>
            <a:off x="4434840" y="4864680"/>
            <a:ext cx="31176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50" spc="-1" strike="noStrike">
                <a:solidFill>
                  <a:srgbClr val="5b6472"/>
                </a:solidFill>
                <a:latin typeface="Calibri"/>
                <a:ea typeface="Calibri"/>
              </a:rPr>
              <a:t>Cible : 0 — plateau 1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Shape 25"/>
          <p:cNvSpPr/>
          <p:nvPr/>
        </p:nvSpPr>
        <p:spPr>
          <a:xfrm>
            <a:off x="8010000" y="3950280"/>
            <a:ext cx="3520080" cy="1965600"/>
          </a:xfrm>
          <a:prstGeom prst="roundRect">
            <a:avLst>
              <a:gd name="adj" fmla="val 4186"/>
            </a:avLst>
          </a:prstGeom>
          <a:solidFill>
            <a:srgbClr val="f1f1f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Text 26"/>
          <p:cNvSpPr/>
          <p:nvPr/>
        </p:nvSpPr>
        <p:spPr>
          <a:xfrm>
            <a:off x="8211240" y="4078080"/>
            <a:ext cx="9140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pc="-1" strike="noStrike">
                <a:solidFill>
                  <a:srgbClr val="8a93a6"/>
                </a:solidFill>
                <a:latin typeface="Cambria"/>
                <a:ea typeface="Cambria"/>
              </a:rPr>
              <a:t>ψ</a:t>
            </a:r>
            <a:endParaRPr b="0" lang="en-US" sz="3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Text 27"/>
          <p:cNvSpPr/>
          <p:nvPr/>
        </p:nvSpPr>
        <p:spPr>
          <a:xfrm>
            <a:off x="9061560" y="4133160"/>
            <a:ext cx="2285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b1b33"/>
                </a:solidFill>
                <a:latin typeface="Calibri"/>
                <a:ea typeface="Calibri"/>
              </a:rPr>
              <a:t>Lacet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Text 28"/>
          <p:cNvSpPr/>
          <p:nvPr/>
        </p:nvSpPr>
        <p:spPr>
          <a:xfrm>
            <a:off x="8211240" y="4864680"/>
            <a:ext cx="31176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50" spc="-1" strike="noStrike">
                <a:solidFill>
                  <a:srgbClr val="5b6472"/>
                </a:solidFill>
                <a:latin typeface="Calibri"/>
                <a:ea typeface="Calibri"/>
              </a:rPr>
              <a:t>Cible : 0 — plateau 2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Text 29"/>
          <p:cNvSpPr/>
          <p:nvPr/>
        </p:nvSpPr>
        <p:spPr>
          <a:xfrm>
            <a:off x="11457360" y="640080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b0b6c3"/>
                </a:solidFill>
                <a:latin typeface="Calibri"/>
                <a:ea typeface="Calibri"/>
              </a:rPr>
              <a:t>2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ext 0"/>
          <p:cNvSpPr/>
          <p:nvPr/>
        </p:nvSpPr>
        <p:spPr>
          <a:xfrm>
            <a:off x="457200" y="292680"/>
            <a:ext cx="77720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0b1b33"/>
                </a:solidFill>
                <a:latin typeface="Cambria"/>
                <a:ea typeface="Cambria"/>
              </a:rPr>
              <a:t>Vue d'ensemble : de la mesure à la poussée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Shape 1"/>
          <p:cNvSpPr/>
          <p:nvPr/>
        </p:nvSpPr>
        <p:spPr>
          <a:xfrm>
            <a:off x="8942760" y="292680"/>
            <a:ext cx="310680" cy="310680"/>
          </a:xfrm>
          <a:prstGeom prst="ellipse">
            <a:avLst/>
          </a:prstGeom>
          <a:solidFill>
            <a:srgbClr val="ff6b3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" name="Text 2"/>
          <p:cNvSpPr/>
          <p:nvPr/>
        </p:nvSpPr>
        <p:spPr>
          <a:xfrm>
            <a:off x="8942760" y="29268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Z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Text 3"/>
          <p:cNvSpPr/>
          <p:nvPr/>
        </p:nvSpPr>
        <p:spPr>
          <a:xfrm>
            <a:off x="9345240" y="292680"/>
            <a:ext cx="27428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35"/>
                </a:solidFill>
                <a:latin typeface="Calibri"/>
                <a:ea typeface="Calibri"/>
              </a:rPr>
              <a:t>libre  ·  </a:t>
            </a:r>
            <a:r>
              <a:rPr b="0" lang="en-US" sz="1100" spc="-1" strike="noStrike">
                <a:solidFill>
                  <a:srgbClr val="8a93a6"/>
                </a:solidFill>
                <a:latin typeface="Calibri"/>
                <a:ea typeface="Calibri"/>
              </a:rPr>
              <a:t>x, y, φ, θ, ψ = 0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Shape 4"/>
          <p:cNvSpPr/>
          <p:nvPr/>
        </p:nvSpPr>
        <p:spPr>
          <a:xfrm>
            <a:off x="457200" y="1417320"/>
            <a:ext cx="2450160" cy="2880000"/>
          </a:xfrm>
          <a:prstGeom prst="roundRect">
            <a:avLst>
              <a:gd name="adj" fmla="val 2985"/>
            </a:avLst>
          </a:prstGeom>
          <a:solidFill>
            <a:srgbClr val="eaf1f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Text 5"/>
          <p:cNvSpPr/>
          <p:nvPr/>
        </p:nvSpPr>
        <p:spPr>
          <a:xfrm>
            <a:off x="658440" y="1563480"/>
            <a:ext cx="2048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b1b33"/>
                </a:solidFill>
                <a:latin typeface="Calibri"/>
                <a:ea typeface="Calibri"/>
              </a:rPr>
              <a:t>Capteurs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Text 6"/>
          <p:cNvSpPr/>
          <p:nvPr/>
        </p:nvSpPr>
        <p:spPr>
          <a:xfrm>
            <a:off x="658440" y="1947600"/>
            <a:ext cx="2048040" cy="220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0b1b33"/>
              </a:buClr>
              <a:buFont typeface="Symbol" charset="2"/>
              <a:buChar char=""/>
            </a:pPr>
            <a:r>
              <a:rPr b="0" lang="en-US" sz="1150" spc="-1" strike="noStrike">
                <a:solidFill>
                  <a:srgbClr val="0b1b33"/>
                </a:solidFill>
                <a:latin typeface="Calibri"/>
                <a:ea typeface="Calibri"/>
              </a:rPr>
              <a:t>IMU Xsens : φ, θ, ψ + gyro + accél.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0b1b33"/>
              </a:buClr>
              <a:buFont typeface="Symbol" charset="2"/>
              <a:buChar char=""/>
            </a:pPr>
            <a:r>
              <a:rPr b="0" lang="en-US" sz="1150" spc="-1" strike="noStrike">
                <a:solidFill>
                  <a:srgbClr val="0b1b33"/>
                </a:solidFill>
                <a:latin typeface="Calibri"/>
                <a:ea typeface="Calibri"/>
              </a:rPr>
              <a:t>2 lidars : altitude Z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0b1b33"/>
              </a:buClr>
              <a:buFont typeface="Symbol" charset="2"/>
              <a:buChar char=""/>
            </a:pPr>
            <a:r>
              <a:rPr b="0" lang="en-US" sz="1150" spc="-1" strike="noStrike">
                <a:solidFill>
                  <a:srgbClr val="0b1b33"/>
                </a:solidFill>
                <a:latin typeface="Calibri"/>
                <a:ea typeface="Calibri"/>
              </a:rPr>
              <a:t>2 capteurs Hall : angle des 2 plateaux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Shape 7"/>
          <p:cNvSpPr/>
          <p:nvPr/>
        </p:nvSpPr>
        <p:spPr>
          <a:xfrm>
            <a:off x="3255120" y="1417320"/>
            <a:ext cx="2450160" cy="2880000"/>
          </a:xfrm>
          <a:prstGeom prst="roundRect">
            <a:avLst>
              <a:gd name="adj" fmla="val 2985"/>
            </a:avLst>
          </a:prstGeom>
          <a:solidFill>
            <a:srgbClr val="ffed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Text 8"/>
          <p:cNvSpPr/>
          <p:nvPr/>
        </p:nvSpPr>
        <p:spPr>
          <a:xfrm>
            <a:off x="3456360" y="1563480"/>
            <a:ext cx="2048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b1b33"/>
                </a:solidFill>
                <a:latin typeface="Calibri"/>
                <a:ea typeface="Calibri"/>
              </a:rPr>
              <a:t>Régulateurs (PID)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Text 9"/>
          <p:cNvSpPr/>
          <p:nvPr/>
        </p:nvSpPr>
        <p:spPr>
          <a:xfrm>
            <a:off x="3456360" y="1947600"/>
            <a:ext cx="2048040" cy="220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0b1b33"/>
              </a:buClr>
              <a:buFont typeface="Symbol" charset="2"/>
              <a:buChar char=""/>
            </a:pPr>
            <a:r>
              <a:rPr b="0" lang="en-US" sz="1150" spc="-1" strike="noStrike">
                <a:solidFill>
                  <a:srgbClr val="0b1b33"/>
                </a:solidFill>
                <a:latin typeface="Calibri"/>
                <a:ea typeface="Calibri"/>
              </a:rPr>
              <a:t>PID Altitude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0b1b33"/>
              </a:buClr>
              <a:buFont typeface="Symbol" charset="2"/>
              <a:buChar char=""/>
            </a:pPr>
            <a:r>
              <a:rPr b="0" lang="en-US" sz="1150" spc="-1" strike="noStrike">
                <a:solidFill>
                  <a:srgbClr val="0b1b33"/>
                </a:solidFill>
                <a:latin typeface="Calibri"/>
                <a:ea typeface="Calibri"/>
              </a:rPr>
              <a:t>PID Roulis, Tangage, Lacet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0b1b33"/>
              </a:buClr>
              <a:buFont typeface="Symbol" charset="2"/>
              <a:buChar char=""/>
            </a:pPr>
            <a:r>
              <a:rPr b="0" lang="en-US" sz="1150" spc="-1" strike="noStrike">
                <a:solidFill>
                  <a:srgbClr val="0b1b33"/>
                </a:solidFill>
                <a:latin typeface="Calibri"/>
                <a:ea typeface="Calibri"/>
              </a:rPr>
              <a:t>PID position × 2 (plateaux)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Shape 10"/>
          <p:cNvSpPr/>
          <p:nvPr/>
        </p:nvSpPr>
        <p:spPr>
          <a:xfrm>
            <a:off x="6053400" y="1417320"/>
            <a:ext cx="2450160" cy="2880000"/>
          </a:xfrm>
          <a:prstGeom prst="roundRect">
            <a:avLst>
              <a:gd name="adj" fmla="val 2985"/>
            </a:avLst>
          </a:prstGeom>
          <a:solidFill>
            <a:srgbClr val="e9ec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Text 11"/>
          <p:cNvSpPr/>
          <p:nvPr/>
        </p:nvSpPr>
        <p:spPr>
          <a:xfrm>
            <a:off x="6254640" y="1563480"/>
            <a:ext cx="2048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b1b33"/>
                </a:solidFill>
                <a:latin typeface="Calibri"/>
                <a:ea typeface="Calibri"/>
              </a:rPr>
              <a:t>Actionneurs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Text 12"/>
          <p:cNvSpPr/>
          <p:nvPr/>
        </p:nvSpPr>
        <p:spPr>
          <a:xfrm>
            <a:off x="6254640" y="1947600"/>
            <a:ext cx="2048040" cy="220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0b1b33"/>
              </a:buClr>
              <a:buFont typeface="Symbol" charset="2"/>
              <a:buChar char=""/>
            </a:pPr>
            <a:r>
              <a:rPr b="0" lang="en-US" sz="1150" spc="-1" strike="noStrike">
                <a:solidFill>
                  <a:srgbClr val="0b1b33"/>
                </a:solidFill>
                <a:latin typeface="Calibri"/>
                <a:ea typeface="Calibri"/>
              </a:rPr>
              <a:t>3 turbines (poussée + roulis)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0b1b33"/>
              </a:buClr>
              <a:buFont typeface="Symbol" charset="2"/>
              <a:buChar char=""/>
            </a:pPr>
            <a:r>
              <a:rPr b="0" lang="en-US" sz="1150" spc="-1" strike="noStrike">
                <a:solidFill>
                  <a:srgbClr val="0b1b33"/>
                </a:solidFill>
                <a:latin typeface="Calibri"/>
                <a:ea typeface="Calibri"/>
              </a:rPr>
              <a:t>2 moteurs CC (plateaux 1 et 2)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Shape 13"/>
          <p:cNvSpPr/>
          <p:nvPr/>
        </p:nvSpPr>
        <p:spPr>
          <a:xfrm>
            <a:off x="8851320" y="1417320"/>
            <a:ext cx="2450160" cy="2880000"/>
          </a:xfrm>
          <a:prstGeom prst="roundRect">
            <a:avLst>
              <a:gd name="adj" fmla="val 2985"/>
            </a:avLst>
          </a:prstGeom>
          <a:solidFill>
            <a:srgbClr val="f1f1f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Text 14"/>
          <p:cNvSpPr/>
          <p:nvPr/>
        </p:nvSpPr>
        <p:spPr>
          <a:xfrm>
            <a:off x="9052560" y="1563480"/>
            <a:ext cx="2048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b1b33"/>
                </a:solidFill>
                <a:latin typeface="Calibri"/>
                <a:ea typeface="Calibri"/>
              </a:rPr>
              <a:t>Système physique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Text 15"/>
          <p:cNvSpPr/>
          <p:nvPr/>
        </p:nvSpPr>
        <p:spPr>
          <a:xfrm>
            <a:off x="9052560" y="1947600"/>
            <a:ext cx="2048040" cy="220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0b1b33"/>
              </a:buClr>
              <a:buFont typeface="Symbol" charset="2"/>
              <a:buChar char=""/>
            </a:pPr>
            <a:r>
              <a:rPr b="0" lang="en-US" sz="1150" spc="-1" strike="noStrike">
                <a:solidFill>
                  <a:srgbClr val="0b1b33"/>
                </a:solidFill>
                <a:latin typeface="Calibri"/>
                <a:ea typeface="Calibri"/>
              </a:rPr>
              <a:t>Corps de l'engin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0b1b33"/>
              </a:buClr>
              <a:buFont typeface="Symbol" charset="2"/>
              <a:buChar char=""/>
            </a:pPr>
            <a:r>
              <a:rPr b="0" lang="en-US" sz="1150" spc="-1" strike="noStrike">
                <a:solidFill>
                  <a:srgbClr val="0b1b33"/>
                </a:solidFill>
                <a:latin typeface="Calibri"/>
                <a:ea typeface="Calibri"/>
              </a:rPr>
              <a:t>Dynamique Z, φ, θ, ψ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0b1b33"/>
              </a:buClr>
              <a:buFont typeface="Symbol" charset="2"/>
              <a:buChar char=""/>
            </a:pPr>
            <a:r>
              <a:rPr b="0" lang="en-US" sz="1150" spc="-1" strike="noStrike">
                <a:solidFill>
                  <a:srgbClr val="0b1b33"/>
                </a:solidFill>
                <a:latin typeface="Calibri"/>
                <a:ea typeface="Calibri"/>
              </a:rPr>
              <a:t>+ x, y en conséquence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Shape 16"/>
          <p:cNvSpPr/>
          <p:nvPr/>
        </p:nvSpPr>
        <p:spPr>
          <a:xfrm>
            <a:off x="2907720" y="2857320"/>
            <a:ext cx="347400" cy="360"/>
          </a:xfrm>
          <a:prstGeom prst="line">
            <a:avLst/>
          </a:prstGeom>
          <a:ln w="22225">
            <a:solidFill>
              <a:srgbClr val="0b1b33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Shape 17"/>
          <p:cNvSpPr/>
          <p:nvPr/>
        </p:nvSpPr>
        <p:spPr>
          <a:xfrm>
            <a:off x="5705640" y="2857320"/>
            <a:ext cx="347400" cy="360"/>
          </a:xfrm>
          <a:prstGeom prst="line">
            <a:avLst/>
          </a:prstGeom>
          <a:ln w="22225">
            <a:solidFill>
              <a:srgbClr val="0b1b33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Shape 18"/>
          <p:cNvSpPr/>
          <p:nvPr/>
        </p:nvSpPr>
        <p:spPr>
          <a:xfrm>
            <a:off x="8503920" y="2857320"/>
            <a:ext cx="347400" cy="360"/>
          </a:xfrm>
          <a:prstGeom prst="line">
            <a:avLst/>
          </a:prstGeom>
          <a:ln w="22225">
            <a:solidFill>
              <a:srgbClr val="0b1b33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Shape 20"/>
          <p:cNvSpPr/>
          <p:nvPr/>
        </p:nvSpPr>
        <p:spPr>
          <a:xfrm>
            <a:off x="10076400" y="4983480"/>
            <a:ext cx="360" cy="360"/>
          </a:xfrm>
          <a:prstGeom prst="line">
            <a:avLst/>
          </a:prstGeom>
          <a:ln w="22225">
            <a:solidFill>
              <a:srgbClr val="8a93a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Shape 21"/>
          <p:cNvSpPr/>
          <p:nvPr/>
        </p:nvSpPr>
        <p:spPr>
          <a:xfrm>
            <a:off x="1682280" y="4983480"/>
            <a:ext cx="360" cy="360"/>
          </a:xfrm>
          <a:prstGeom prst="line">
            <a:avLst/>
          </a:prstGeom>
          <a:ln w="22225">
            <a:solidFill>
              <a:srgbClr val="8a93a6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Text 22"/>
          <p:cNvSpPr/>
          <p:nvPr/>
        </p:nvSpPr>
        <p:spPr>
          <a:xfrm>
            <a:off x="1682640" y="4690800"/>
            <a:ext cx="83937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8a93a6"/>
                </a:solidFill>
                <a:latin typeface="Calibri"/>
                <a:ea typeface="Calibri"/>
              </a:rPr>
              <a:t>boucle de mesure — pas Ts = 10 ms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Text 23"/>
          <p:cNvSpPr/>
          <p:nvPr/>
        </p:nvSpPr>
        <p:spPr>
          <a:xfrm>
            <a:off x="11457360" y="640080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b0b6c3"/>
                </a:solidFill>
                <a:latin typeface="Calibri"/>
                <a:ea typeface="Calibri"/>
              </a:rPr>
              <a:t>3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87" name="Connecteur : en angle 26"/>
          <p:cNvCxnSpPr>
            <a:stCxn id="77" idx="2"/>
          </p:cNvCxnSpPr>
          <p:nvPr/>
        </p:nvCxnSpPr>
        <p:spPr>
          <a:xfrm rot="5400000">
            <a:off x="5139720" y="650520"/>
            <a:ext cx="1289880" cy="8583840"/>
          </a:xfrm>
          <a:prstGeom prst="bentConnector3">
            <a:avLst>
              <a:gd name="adj1" fmla="val 100000"/>
            </a:avLst>
          </a:prstGeom>
          <a:ln>
            <a:solidFill>
              <a:srgbClr val="4472c4"/>
            </a:solidFill>
            <a:round/>
            <a:tailEnd len="med" type="triangle" w="med"/>
          </a:ln>
        </p:spPr>
      </p:cxnSp>
      <p:cxnSp>
        <p:nvCxnSpPr>
          <p:cNvPr id="88" name="Connecteur droit avec flèche 29"/>
          <p:cNvCxnSpPr/>
          <p:nvPr/>
        </p:nvCxnSpPr>
        <p:spPr>
          <a:xfrm flipV="1">
            <a:off x="1492920" y="4297680"/>
            <a:ext cx="360" cy="1289520"/>
          </a:xfrm>
          <a:prstGeom prst="straightConnector1">
            <a:avLst/>
          </a:prstGeom>
          <a:ln>
            <a:solidFill>
              <a:srgbClr val="4472c4"/>
            </a:solidFill>
            <a:round/>
            <a:tailEnd len="med" type="triangle" w="med"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title"/>
          <p:cNvSpPr/>
          <p:nvPr/>
        </p:nvSpPr>
        <p:spPr>
          <a:xfrm>
            <a:off x="457200" y="292680"/>
            <a:ext cx="77720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en-US" sz="3000" spc="-1" strike="noStrike">
                <a:solidFill>
                  <a:srgbClr val="0b1b33"/>
                </a:solidFill>
                <a:latin typeface="Cambria"/>
                <a:ea typeface="Cambria"/>
              </a:rPr>
              <a:t>Vue d'ensemble : de la mesure à la poussée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axis-badge"/>
          <p:cNvSpPr/>
          <p:nvPr/>
        </p:nvSpPr>
        <p:spPr>
          <a:xfrm>
            <a:off x="8942760" y="292680"/>
            <a:ext cx="310680" cy="310680"/>
          </a:xfrm>
          <a:prstGeom prst="ellipse">
            <a:avLst/>
          </a:prstGeom>
          <a:solidFill>
            <a:srgbClr val="ff6b35"/>
          </a:solidFill>
          <a:ln w="9525">
            <a:solidFill>
              <a:srgbClr val="ff6b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" name="axis-badge-text"/>
          <p:cNvSpPr/>
          <p:nvPr/>
        </p:nvSpPr>
        <p:spPr>
          <a:xfrm>
            <a:off x="8942760" y="29268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Z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axis-scope"/>
          <p:cNvSpPr/>
          <p:nvPr/>
        </p:nvSpPr>
        <p:spPr>
          <a:xfrm>
            <a:off x="9345240" y="292680"/>
            <a:ext cx="27428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en-US" sz="1100" spc="-1" strike="noStrike">
                <a:solidFill>
                  <a:srgbClr val="ff6b35"/>
                </a:solidFill>
                <a:latin typeface="Calibri"/>
                <a:ea typeface="Calibri"/>
              </a:rPr>
              <a:t>libre  ·  x, y, φ, θ, ψ = 0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controller"/>
          <p:cNvSpPr/>
          <p:nvPr/>
        </p:nvSpPr>
        <p:spPr>
          <a:xfrm>
            <a:off x="4924440" y="1390680"/>
            <a:ext cx="2342880" cy="590040"/>
          </a:xfrm>
          <a:prstGeom prst="rect">
            <a:avLst/>
          </a:prstGeom>
          <a:solidFill>
            <a:srgbClr val="ffffff"/>
          </a:solidFill>
          <a:ln w="13335">
            <a:solidFill>
              <a:srgbClr val="0b1b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300" spc="-1" strike="noStrike">
                <a:solidFill>
                  <a:srgbClr val="0b1b33"/>
                </a:solidFill>
                <a:latin typeface="Calibri"/>
                <a:ea typeface="Calibri"/>
              </a:rPr>
              <a:t>Carte de contrôle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capteurs"/>
          <p:cNvSpPr/>
          <p:nvPr/>
        </p:nvSpPr>
        <p:spPr>
          <a:xfrm>
            <a:off x="2266920" y="2895480"/>
            <a:ext cx="2018880" cy="1752120"/>
          </a:xfrm>
          <a:prstGeom prst="rect">
            <a:avLst/>
          </a:prstGeom>
          <a:solidFill>
            <a:srgbClr val="ffffff"/>
          </a:solidFill>
          <a:ln w="13335">
            <a:solidFill>
              <a:srgbClr val="0b1b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300" spc="-1" strike="noStrike">
                <a:solidFill>
                  <a:srgbClr val="0b1b33"/>
                </a:solidFill>
                <a:latin typeface="Calibri"/>
                <a:ea typeface="Calibri"/>
              </a:rPr>
              <a:t>CAPTEURS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"/>
          <p:cNvSpPr/>
          <p:nvPr/>
        </p:nvSpPr>
        <p:spPr>
          <a:xfrm>
            <a:off x="2438280" y="3457440"/>
            <a:ext cx="1676160" cy="98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200" spc="-1" strike="noStrike">
                <a:solidFill>
                  <a:srgbClr val="0b1b33"/>
                </a:solidFill>
                <a:latin typeface="Calibri"/>
                <a:ea typeface="Calibri"/>
              </a:rPr>
              <a:t>Xsens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US" sz="1200" spc="-1" strike="noStrike">
                <a:solidFill>
                  <a:srgbClr val="0b1b33"/>
                </a:solidFill>
                <a:latin typeface="Calibri"/>
                <a:ea typeface="Calibri"/>
              </a:rPr>
              <a:t>Lidars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US" sz="1200" spc="-1" strike="noStrike">
                <a:solidFill>
                  <a:srgbClr val="0b1b33"/>
                </a:solidFill>
                <a:latin typeface="Calibri"/>
                <a:ea typeface="Calibri"/>
              </a:rPr>
              <a:t>Hall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actionneurs"/>
          <p:cNvSpPr/>
          <p:nvPr/>
        </p:nvSpPr>
        <p:spPr>
          <a:xfrm>
            <a:off x="4857840" y="2895480"/>
            <a:ext cx="2247480" cy="1752120"/>
          </a:xfrm>
          <a:prstGeom prst="rect">
            <a:avLst/>
          </a:prstGeom>
          <a:solidFill>
            <a:srgbClr val="ffffff"/>
          </a:solidFill>
          <a:ln w="13335">
            <a:solidFill>
              <a:srgbClr val="0b1b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300" spc="-1" strike="noStrike">
                <a:solidFill>
                  <a:srgbClr val="0b1b33"/>
                </a:solidFill>
                <a:latin typeface="Calibri"/>
                <a:ea typeface="Calibri"/>
              </a:rPr>
              <a:t>ACTIONNEURS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"/>
          <p:cNvSpPr/>
          <p:nvPr/>
        </p:nvSpPr>
        <p:spPr>
          <a:xfrm>
            <a:off x="5029200" y="3457440"/>
            <a:ext cx="1904760" cy="98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200" spc="-1" strike="noStrike">
                <a:solidFill>
                  <a:srgbClr val="0b1b33"/>
                </a:solidFill>
                <a:latin typeface="Calibri"/>
                <a:ea typeface="Calibri"/>
              </a:rPr>
              <a:t>Turbines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US" sz="1200" spc="-1" strike="noStrike">
                <a:solidFill>
                  <a:srgbClr val="0b1b33"/>
                </a:solidFill>
                <a:latin typeface="Calibri"/>
                <a:ea typeface="Calibri"/>
              </a:rPr>
              <a:t>de poussée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US" sz="1200" spc="-1" strike="noStrike">
                <a:solidFill>
                  <a:srgbClr val="0b1b33"/>
                </a:solidFill>
                <a:latin typeface="Calibri"/>
                <a:ea typeface="Calibri"/>
              </a:rPr>
              <a:t>Turbines roulis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US" sz="1200" spc="-1" strike="noStrike">
                <a:solidFill>
                  <a:srgbClr val="0b1b33"/>
                </a:solidFill>
                <a:latin typeface="Calibri"/>
                <a:ea typeface="Calibri"/>
              </a:rPr>
              <a:t>MCC plateau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puissance"/>
          <p:cNvSpPr/>
          <p:nvPr/>
        </p:nvSpPr>
        <p:spPr>
          <a:xfrm>
            <a:off x="7829640" y="2895480"/>
            <a:ext cx="2018880" cy="1752120"/>
          </a:xfrm>
          <a:prstGeom prst="rect">
            <a:avLst/>
          </a:prstGeom>
          <a:solidFill>
            <a:srgbClr val="ffffff"/>
          </a:solidFill>
          <a:ln w="13335">
            <a:solidFill>
              <a:srgbClr val="0b1b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300" spc="-1" strike="noStrike">
                <a:solidFill>
                  <a:srgbClr val="0b1b33"/>
                </a:solidFill>
                <a:latin typeface="Calibri"/>
                <a:ea typeface="Calibri"/>
              </a:rPr>
              <a:t>PUISSANCE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"/>
          <p:cNvSpPr/>
          <p:nvPr/>
        </p:nvSpPr>
        <p:spPr>
          <a:xfrm>
            <a:off x="8001000" y="3457440"/>
            <a:ext cx="1676160" cy="98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200" spc="-1" strike="noStrike">
                <a:solidFill>
                  <a:srgbClr val="0b1b33"/>
                </a:solidFill>
                <a:latin typeface="Calibri"/>
                <a:ea typeface="Calibri"/>
              </a:rPr>
              <a:t>ESC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US" sz="1200" spc="-1" strike="noStrike">
                <a:solidFill>
                  <a:srgbClr val="0b1b33"/>
                </a:solidFill>
                <a:latin typeface="Calibri"/>
                <a:ea typeface="Calibri"/>
              </a:rPr>
              <a:t>Batteries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controller-trunk"/>
          <p:cNvSpPr/>
          <p:nvPr/>
        </p:nvSpPr>
        <p:spPr>
          <a:xfrm>
            <a:off x="6095880" y="1981080"/>
            <a:ext cx="360" cy="457200"/>
          </a:xfrm>
          <a:prstGeom prst="line">
            <a:avLst/>
          </a:prstGeom>
          <a:ln w="15240">
            <a:solidFill>
              <a:srgbClr val="0b1b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hardware-branch"/>
          <p:cNvSpPr/>
          <p:nvPr/>
        </p:nvSpPr>
        <p:spPr>
          <a:xfrm>
            <a:off x="3276360" y="2428560"/>
            <a:ext cx="5629320" cy="360"/>
          </a:xfrm>
          <a:prstGeom prst="line">
            <a:avLst/>
          </a:prstGeom>
          <a:ln w="15240">
            <a:solidFill>
              <a:srgbClr val="0b1b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sensor-branch"/>
          <p:cNvSpPr/>
          <p:nvPr/>
        </p:nvSpPr>
        <p:spPr>
          <a:xfrm>
            <a:off x="3276360" y="2428560"/>
            <a:ext cx="360" cy="466920"/>
          </a:xfrm>
          <a:prstGeom prst="line">
            <a:avLst/>
          </a:prstGeom>
          <a:ln w="15240">
            <a:solidFill>
              <a:srgbClr val="0b1b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actuator-branch"/>
          <p:cNvSpPr/>
          <p:nvPr/>
        </p:nvSpPr>
        <p:spPr>
          <a:xfrm>
            <a:off x="5981400" y="2428560"/>
            <a:ext cx="360" cy="466920"/>
          </a:xfrm>
          <a:prstGeom prst="line">
            <a:avLst/>
          </a:prstGeom>
          <a:ln w="15240">
            <a:solidFill>
              <a:srgbClr val="0b1b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power-branch"/>
          <p:cNvSpPr/>
          <p:nvPr/>
        </p:nvSpPr>
        <p:spPr>
          <a:xfrm>
            <a:off x="8839080" y="2428560"/>
            <a:ext cx="360" cy="466920"/>
          </a:xfrm>
          <a:prstGeom prst="line">
            <a:avLst/>
          </a:prstGeom>
          <a:ln w="15240">
            <a:solidFill>
              <a:srgbClr val="0b1b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footer-number"/>
          <p:cNvSpPr/>
          <p:nvPr/>
        </p:nvSpPr>
        <p:spPr>
          <a:xfrm>
            <a:off x="11457360" y="640080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000" spc="-1" strike="noStrike">
                <a:solidFill>
                  <a:srgbClr val="b0b6c3"/>
                </a:solidFill>
                <a:latin typeface="Calibri"/>
                <a:ea typeface="Calibri"/>
              </a:rPr>
              <a:t>3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title"/>
          <p:cNvSpPr/>
          <p:nvPr/>
        </p:nvSpPr>
        <p:spPr>
          <a:xfrm>
            <a:off x="457200" y="292680"/>
            <a:ext cx="87627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en-US" sz="3000" spc="-1" strike="noStrike">
                <a:solidFill>
                  <a:srgbClr val="0b1b33"/>
                </a:solidFill>
                <a:latin typeface="Cambria"/>
                <a:ea typeface="Cambria"/>
              </a:rPr>
              <a:t>Le système physique du Mini-Apterros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"/>
          <p:cNvSpPr/>
          <p:nvPr/>
        </p:nvSpPr>
        <p:spPr>
          <a:xfrm>
            <a:off x="457200" y="971640"/>
            <a:ext cx="857232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400" spc="-1" strike="noStrike">
                <a:solidFill>
                  <a:srgbClr val="5b6472"/>
                </a:solidFill>
                <a:latin typeface="Calibri"/>
                <a:ea typeface="Calibri"/>
              </a:rPr>
              <a:t>La fusée réunit structure, mesure, énergie et actionnement.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"/>
          <p:cNvSpPr/>
          <p:nvPr/>
        </p:nvSpPr>
        <p:spPr>
          <a:xfrm>
            <a:off x="523800" y="1504800"/>
            <a:ext cx="3904920" cy="4619160"/>
          </a:xfrm>
          <a:prstGeom prst="roundRect">
            <a:avLst>
              <a:gd name="adj" fmla="val 1951"/>
            </a:avLst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Étage supérieur"/>
          <p:cNvSpPr/>
          <p:nvPr/>
        </p:nvSpPr>
        <p:spPr>
          <a:xfrm>
            <a:off x="4952880" y="1523880"/>
            <a:ext cx="6381360" cy="914040"/>
          </a:xfrm>
          <a:prstGeom prst="roundRect">
            <a:avLst>
              <a:gd name="adj" fmla="val 8333"/>
            </a:avLst>
          </a:prstGeom>
          <a:solidFill>
            <a:srgbClr val="eaf1fd"/>
          </a:solidFill>
          <a:ln w="9525">
            <a:solidFill>
              <a:srgbClr val="eaf1f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"/>
          <p:cNvSpPr/>
          <p:nvPr/>
        </p:nvSpPr>
        <p:spPr>
          <a:xfrm>
            <a:off x="5219640" y="1666800"/>
            <a:ext cx="5810040" cy="25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en-US" sz="1450" spc="-1" strike="noStrike">
                <a:solidFill>
                  <a:srgbClr val="0b1b33"/>
                </a:solidFill>
                <a:latin typeface="Calibri"/>
                <a:ea typeface="Calibri"/>
              </a:rPr>
              <a:t>Étage supérieur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"/>
          <p:cNvSpPr/>
          <p:nvPr/>
        </p:nvSpPr>
        <p:spPr>
          <a:xfrm>
            <a:off x="5219640" y="1971720"/>
            <a:ext cx="5810040" cy="31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300" spc="-1" strike="noStrike">
                <a:solidFill>
                  <a:srgbClr val="0b1b33"/>
                </a:solidFill>
                <a:latin typeface="Calibri"/>
                <a:ea typeface="Calibri"/>
              </a:rPr>
              <a:t>Contrôleur embarqué · Xsens · lidar latéral · PCB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Étage intermédiaire"/>
          <p:cNvSpPr/>
          <p:nvPr/>
        </p:nvSpPr>
        <p:spPr>
          <a:xfrm>
            <a:off x="4952880" y="2666880"/>
            <a:ext cx="6381360" cy="914040"/>
          </a:xfrm>
          <a:prstGeom prst="roundRect">
            <a:avLst>
              <a:gd name="adj" fmla="val 8333"/>
            </a:avLst>
          </a:prstGeom>
          <a:solidFill>
            <a:srgbClr val="ffede5"/>
          </a:solidFill>
          <a:ln w="9525">
            <a:solidFill>
              <a:srgbClr val="ffed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"/>
          <p:cNvSpPr/>
          <p:nvPr/>
        </p:nvSpPr>
        <p:spPr>
          <a:xfrm>
            <a:off x="5219640" y="2809800"/>
            <a:ext cx="5810040" cy="25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en-US" sz="1450" spc="-1" strike="noStrike">
                <a:solidFill>
                  <a:srgbClr val="b24a1e"/>
                </a:solidFill>
                <a:latin typeface="Calibri"/>
                <a:ea typeface="Calibri"/>
              </a:rPr>
              <a:t>Étage intermédiaire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"/>
          <p:cNvSpPr/>
          <p:nvPr/>
        </p:nvSpPr>
        <p:spPr>
          <a:xfrm>
            <a:off x="5219640" y="3114720"/>
            <a:ext cx="5810040" cy="31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300" spc="-1" strike="noStrike">
                <a:solidFill>
                  <a:srgbClr val="0b1b33"/>
                </a:solidFill>
                <a:latin typeface="Calibri"/>
                <a:ea typeface="Calibri"/>
              </a:rPr>
              <a:t>Batteries de poussée · ESC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Étage inférieur"/>
          <p:cNvSpPr/>
          <p:nvPr/>
        </p:nvSpPr>
        <p:spPr>
          <a:xfrm>
            <a:off x="4952880" y="3809880"/>
            <a:ext cx="6381360" cy="914040"/>
          </a:xfrm>
          <a:prstGeom prst="roundRect">
            <a:avLst>
              <a:gd name="adj" fmla="val 8333"/>
            </a:avLst>
          </a:prstGeom>
          <a:solidFill>
            <a:srgbClr val="e9ecf4"/>
          </a:solidFill>
          <a:ln w="9525">
            <a:solidFill>
              <a:srgbClr val="e9ecf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"/>
          <p:cNvSpPr/>
          <p:nvPr/>
        </p:nvSpPr>
        <p:spPr>
          <a:xfrm>
            <a:off x="5219640" y="3952800"/>
            <a:ext cx="5810040" cy="25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en-US" sz="1450" spc="-1" strike="noStrike">
                <a:solidFill>
                  <a:srgbClr val="0b1b33"/>
                </a:solidFill>
                <a:latin typeface="Calibri"/>
                <a:ea typeface="Calibri"/>
              </a:rPr>
              <a:t>Étage inférieur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"/>
          <p:cNvSpPr/>
          <p:nvPr/>
        </p:nvSpPr>
        <p:spPr>
          <a:xfrm>
            <a:off x="5219640" y="4257720"/>
            <a:ext cx="5810040" cy="31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300" spc="-1" strike="noStrike">
                <a:solidFill>
                  <a:srgbClr val="0b1b33"/>
                </a:solidFill>
                <a:latin typeface="Calibri"/>
                <a:ea typeface="Calibri"/>
              </a:rPr>
              <a:t>Moteurs CC · capteurs Hall · lidar d'altitude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Plateau orientable"/>
          <p:cNvSpPr/>
          <p:nvPr/>
        </p:nvSpPr>
        <p:spPr>
          <a:xfrm>
            <a:off x="4952880" y="4952880"/>
            <a:ext cx="6381360" cy="914040"/>
          </a:xfrm>
          <a:prstGeom prst="roundRect">
            <a:avLst>
              <a:gd name="adj" fmla="val 8333"/>
            </a:avLst>
          </a:prstGeom>
          <a:solidFill>
            <a:srgbClr val="f1f1f3"/>
          </a:solidFill>
          <a:ln w="9525">
            <a:solidFill>
              <a:srgbClr val="f1f1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"/>
          <p:cNvSpPr/>
          <p:nvPr/>
        </p:nvSpPr>
        <p:spPr>
          <a:xfrm>
            <a:off x="5219640" y="5095800"/>
            <a:ext cx="5810040" cy="25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en-US" sz="1450" spc="-1" strike="noStrike">
                <a:solidFill>
                  <a:srgbClr val="0b1b33"/>
                </a:solidFill>
                <a:latin typeface="Calibri"/>
                <a:ea typeface="Calibri"/>
              </a:rPr>
              <a:t>Plateau orientable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"/>
          <p:cNvSpPr/>
          <p:nvPr/>
        </p:nvSpPr>
        <p:spPr>
          <a:xfrm>
            <a:off x="5219640" y="5400720"/>
            <a:ext cx="5810040" cy="31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300" spc="-1" strike="noStrike">
                <a:solidFill>
                  <a:srgbClr val="0b1b33"/>
                </a:solidFill>
                <a:latin typeface="Calibri"/>
                <a:ea typeface="Calibri"/>
              </a:rPr>
              <a:t>Les turbines de poussée sont fixées sur un support inclinable.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title"/>
          <p:cNvSpPr/>
          <p:nvPr/>
        </p:nvSpPr>
        <p:spPr>
          <a:xfrm>
            <a:off x="457200" y="292680"/>
            <a:ext cx="106675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en-US" sz="2800" spc="-1" strike="noStrike">
                <a:solidFill>
                  <a:srgbClr val="0b1b33"/>
                </a:solidFill>
                <a:latin typeface="Cambria"/>
                <a:ea typeface="Cambria"/>
              </a:rPr>
              <a:t>Capteurs et actionneurs du Mini-Apterros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subtitle"/>
          <p:cNvSpPr/>
          <p:nvPr/>
        </p:nvSpPr>
        <p:spPr>
          <a:xfrm>
            <a:off x="457200" y="961920"/>
            <a:ext cx="1057248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350" spc="-1" strike="noStrike">
                <a:solidFill>
                  <a:srgbClr val="5b6472"/>
                </a:solidFill>
                <a:latin typeface="Calibri"/>
                <a:ea typeface="Calibri"/>
              </a:rPr>
              <a:t>Les capteurs mesurent l’état de la fusée. Les actionneurs appliquent les corrections.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sensors-heading"/>
          <p:cNvSpPr/>
          <p:nvPr/>
        </p:nvSpPr>
        <p:spPr>
          <a:xfrm>
            <a:off x="457200" y="1495440"/>
            <a:ext cx="428580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en-US" sz="1450" spc="-1" strike="noStrike">
                <a:solidFill>
                  <a:srgbClr val="0b1b33"/>
                </a:solidFill>
                <a:latin typeface="Calibri"/>
                <a:ea typeface="Calibri"/>
              </a:rPr>
              <a:t>CAPTEURS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sensors-rule"/>
          <p:cNvSpPr/>
          <p:nvPr/>
        </p:nvSpPr>
        <p:spPr>
          <a:xfrm>
            <a:off x="457200" y="1857240"/>
            <a:ext cx="4952880" cy="360"/>
          </a:xfrm>
          <a:prstGeom prst="line">
            <a:avLst/>
          </a:prstGeom>
          <a:ln w="19050">
            <a:solidFill>
              <a:srgbClr val="8eac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5" name="" descr=""/>
          <p:cNvPicPr/>
          <p:nvPr/>
        </p:nvPicPr>
        <p:blipFill>
          <a:blip r:embed="rId1"/>
          <a:stretch/>
        </p:blipFill>
        <p:spPr>
          <a:xfrm>
            <a:off x="533520" y="2378880"/>
            <a:ext cx="2142720" cy="1852200"/>
          </a:xfrm>
          <a:prstGeom prst="rect">
            <a:avLst/>
          </a:prstGeom>
          <a:ln w="0">
            <a:noFill/>
          </a:ln>
        </p:spPr>
      </p:pic>
      <p:sp>
        <p:nvSpPr>
          <p:cNvPr id="126" name="lidar-label"/>
          <p:cNvSpPr/>
          <p:nvPr/>
        </p:nvSpPr>
        <p:spPr>
          <a:xfrm>
            <a:off x="2952720" y="2057400"/>
            <a:ext cx="226656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en-US" sz="1450" spc="-1" strike="noStrike">
                <a:solidFill>
                  <a:srgbClr val="0b1b33"/>
                </a:solidFill>
                <a:latin typeface="Calibri"/>
                <a:ea typeface="Calibri"/>
              </a:rPr>
              <a:t>Lidars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lidar-description"/>
          <p:cNvSpPr/>
          <p:nvPr/>
        </p:nvSpPr>
        <p:spPr>
          <a:xfrm>
            <a:off x="2952720" y="2362320"/>
            <a:ext cx="238104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rgbClr val="0b1b33"/>
                </a:solidFill>
                <a:latin typeface="Calibri"/>
                <a:ea typeface="Calibri"/>
              </a:rPr>
              <a:t>Altitude : distance au sol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rgbClr val="0b1b33"/>
                </a:solidFill>
                <a:latin typeface="Calibri"/>
                <a:ea typeface="Calibri"/>
              </a:rPr>
              <a:t>Latéral : distance au mur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imu-label"/>
          <p:cNvSpPr/>
          <p:nvPr/>
        </p:nvSpPr>
        <p:spPr>
          <a:xfrm>
            <a:off x="2952720" y="3200400"/>
            <a:ext cx="245700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en-US" sz="1450" spc="-1" strike="noStrike">
                <a:solidFill>
                  <a:srgbClr val="0b1b33"/>
                </a:solidFill>
                <a:latin typeface="Calibri"/>
                <a:ea typeface="Calibri"/>
              </a:rPr>
              <a:t>Centrale inertielle Xsens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imu-description"/>
          <p:cNvSpPr/>
          <p:nvPr/>
        </p:nvSpPr>
        <p:spPr>
          <a:xfrm>
            <a:off x="2952720" y="3514680"/>
            <a:ext cx="2428560" cy="61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rgbClr val="0b1b33"/>
                </a:solidFill>
                <a:latin typeface="Calibri"/>
                <a:ea typeface="Calibri"/>
              </a:rPr>
              <a:t>Angles φ, θ, ψ, vitesses de rotation et accélérations.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hall-label"/>
          <p:cNvSpPr/>
          <p:nvPr/>
        </p:nvSpPr>
        <p:spPr>
          <a:xfrm>
            <a:off x="2952720" y="4381560"/>
            <a:ext cx="209520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en-US" sz="1450" spc="-1" strike="noStrike">
                <a:solidFill>
                  <a:srgbClr val="0b1b33"/>
                </a:solidFill>
                <a:latin typeface="Calibri"/>
                <a:ea typeface="Calibri"/>
              </a:rPr>
              <a:t>Capteurs Hall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hall-description"/>
          <p:cNvSpPr/>
          <p:nvPr/>
        </p:nvSpPr>
        <p:spPr>
          <a:xfrm>
            <a:off x="2952720" y="4695840"/>
            <a:ext cx="2428560" cy="65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rgbClr val="0b1b33"/>
                </a:solidFill>
                <a:latin typeface="Calibri"/>
                <a:ea typeface="Calibri"/>
              </a:rPr>
              <a:t>Ils donnent l’angle de chaque plateau pour la commande en position.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actuators-heading"/>
          <p:cNvSpPr/>
          <p:nvPr/>
        </p:nvSpPr>
        <p:spPr>
          <a:xfrm>
            <a:off x="6172200" y="1495440"/>
            <a:ext cx="428580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en-US" sz="1450" spc="-1" strike="noStrike">
                <a:solidFill>
                  <a:srgbClr val="b24a1e"/>
                </a:solidFill>
                <a:latin typeface="Calibri"/>
                <a:ea typeface="Calibri"/>
              </a:rPr>
              <a:t>ACTIONNEURS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actuators-rule"/>
          <p:cNvSpPr/>
          <p:nvPr/>
        </p:nvSpPr>
        <p:spPr>
          <a:xfrm>
            <a:off x="6172200" y="1857240"/>
            <a:ext cx="5143320" cy="360"/>
          </a:xfrm>
          <a:prstGeom prst="line">
            <a:avLst/>
          </a:prstGeom>
          <a:ln w="19050">
            <a:solidFill>
              <a:srgbClr val="e9aa8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4" name="" descr=""/>
          <p:cNvPicPr/>
          <p:nvPr/>
        </p:nvPicPr>
        <p:blipFill>
          <a:blip r:embed="rId2"/>
          <a:stretch/>
        </p:blipFill>
        <p:spPr>
          <a:xfrm>
            <a:off x="6200640" y="2018880"/>
            <a:ext cx="1571400" cy="1267200"/>
          </a:xfrm>
          <a:prstGeom prst="rect">
            <a:avLst/>
          </a:prstGeom>
          <a:ln w="0">
            <a:noFill/>
          </a:ln>
        </p:spPr>
      </p:pic>
      <p:sp>
        <p:nvSpPr>
          <p:cNvPr id="135" name="roll-turbines-label"/>
          <p:cNvSpPr/>
          <p:nvPr/>
        </p:nvSpPr>
        <p:spPr>
          <a:xfrm>
            <a:off x="8058240" y="2076480"/>
            <a:ext cx="290484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en-US" sz="1450" spc="-1" strike="noStrike">
                <a:solidFill>
                  <a:srgbClr val="b24a1e"/>
                </a:solidFill>
                <a:latin typeface="Calibri"/>
                <a:ea typeface="Calibri"/>
              </a:rPr>
              <a:t>Turbines de roulis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roll-turbines-description"/>
          <p:cNvSpPr/>
          <p:nvPr/>
        </p:nvSpPr>
        <p:spPr>
          <a:xfrm>
            <a:off x="8058240" y="2381400"/>
            <a:ext cx="3066840" cy="46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rgbClr val="0b1b33"/>
                </a:solidFill>
                <a:latin typeface="Calibri"/>
                <a:ea typeface="Calibri"/>
              </a:rPr>
              <a:t>La commande différentielle crée le couple de roulis.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7" name="" descr=""/>
          <p:cNvPicPr/>
          <p:nvPr/>
        </p:nvPicPr>
        <p:blipFill>
          <a:blip r:embed="rId3"/>
          <a:stretch/>
        </p:blipFill>
        <p:spPr>
          <a:xfrm>
            <a:off x="6222960" y="3352680"/>
            <a:ext cx="1527120" cy="1380600"/>
          </a:xfrm>
          <a:prstGeom prst="rect">
            <a:avLst/>
          </a:prstGeom>
          <a:ln w="0">
            <a:noFill/>
          </a:ln>
        </p:spPr>
      </p:pic>
      <p:sp>
        <p:nvSpPr>
          <p:cNvPr id="138" name="thrust-turbines-label"/>
          <p:cNvSpPr/>
          <p:nvPr/>
        </p:nvSpPr>
        <p:spPr>
          <a:xfrm>
            <a:off x="8058240" y="3448080"/>
            <a:ext cx="304776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en-US" sz="1450" spc="-1" strike="noStrike">
                <a:solidFill>
                  <a:srgbClr val="b24a1e"/>
                </a:solidFill>
                <a:latin typeface="Calibri"/>
                <a:ea typeface="Calibri"/>
              </a:rPr>
              <a:t>Turbines de poussée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thrust-turbines-description"/>
          <p:cNvSpPr/>
          <p:nvPr/>
        </p:nvSpPr>
        <p:spPr>
          <a:xfrm>
            <a:off x="8058240" y="3762360"/>
            <a:ext cx="306684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rgbClr val="0b1b33"/>
                </a:solidFill>
                <a:latin typeface="Calibri"/>
                <a:ea typeface="Calibri"/>
              </a:rPr>
              <a:t>Elles assurent la portance. Le plateau orientable dévie ensuite la poussée.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motor-esc-label"/>
          <p:cNvSpPr/>
          <p:nvPr/>
        </p:nvSpPr>
        <p:spPr>
          <a:xfrm>
            <a:off x="6191280" y="5038560"/>
            <a:ext cx="295236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en-US" sz="1450" spc="-1" strike="noStrike">
                <a:solidFill>
                  <a:srgbClr val="b24a1e"/>
                </a:solidFill>
                <a:latin typeface="Calibri"/>
                <a:ea typeface="Calibri"/>
              </a:rPr>
              <a:t>Moteurs CC et ESC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motor-esc-description"/>
          <p:cNvSpPr/>
          <p:nvPr/>
        </p:nvSpPr>
        <p:spPr>
          <a:xfrm>
            <a:off x="6191280" y="5353200"/>
            <a:ext cx="4809600" cy="44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rgbClr val="0b1b33"/>
                </a:solidFill>
                <a:latin typeface="Calibri"/>
                <a:ea typeface="Calibri"/>
              </a:rPr>
              <a:t>Les moteurs CC inclinent les plateaux. Les ESC appliquent la puissance demandée par le PWM.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generic-controller-band"/>
          <p:cNvSpPr/>
          <p:nvPr/>
        </p:nvSpPr>
        <p:spPr>
          <a:xfrm>
            <a:off x="457200" y="6000840"/>
            <a:ext cx="10858320" cy="437760"/>
          </a:xfrm>
          <a:prstGeom prst="roundRect">
            <a:avLst>
              <a:gd name="adj" fmla="val 17391"/>
            </a:avLst>
          </a:prstGeom>
          <a:solidFill>
            <a:srgbClr val="f1f1f3"/>
          </a:solidFill>
          <a:ln w="9525">
            <a:solidFill>
              <a:srgbClr val="f1f1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generic-controller-title"/>
          <p:cNvSpPr/>
          <p:nvPr/>
        </p:nvSpPr>
        <p:spPr>
          <a:xfrm>
            <a:off x="704880" y="6105600"/>
            <a:ext cx="20952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en-US" sz="1300" spc="-1" strike="noStrike">
                <a:solidFill>
                  <a:srgbClr val="0b1b33"/>
                </a:solidFill>
                <a:latin typeface="Calibri"/>
                <a:ea typeface="Calibri"/>
              </a:rPr>
              <a:t>Contrôleur embarqué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generic-controller-description"/>
          <p:cNvSpPr/>
          <p:nvPr/>
        </p:nvSpPr>
        <p:spPr>
          <a:xfrm>
            <a:off x="2857680" y="6105600"/>
            <a:ext cx="8000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rgbClr val="5b6472"/>
                </a:solidFill>
                <a:latin typeface="Calibri"/>
                <a:ea typeface="Calibri"/>
              </a:rPr>
              <a:t>Il reçoit les mesures et envoie les consignes PWM. Le modèle du contrôleur sera remplacé.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title"/>
          <p:cNvSpPr/>
          <p:nvPr/>
        </p:nvSpPr>
        <p:spPr>
          <a:xfrm>
            <a:off x="457200" y="292680"/>
            <a:ext cx="87627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en-US" sz="3000" spc="-1" strike="noStrike">
                <a:solidFill>
                  <a:srgbClr val="0b1b33"/>
                </a:solidFill>
                <a:latin typeface="Cambria"/>
                <a:ea typeface="Cambria"/>
              </a:rPr>
              <a:t>Du plateau orientable au mouvement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"/>
          <p:cNvSpPr/>
          <p:nvPr/>
        </p:nvSpPr>
        <p:spPr>
          <a:xfrm>
            <a:off x="476280" y="1276200"/>
            <a:ext cx="4762080" cy="4762080"/>
          </a:xfrm>
          <a:prstGeom prst="roundRect">
            <a:avLst>
              <a:gd name="adj" fmla="val 1600"/>
            </a:avLst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force-components"/>
          <p:cNvSpPr/>
          <p:nvPr/>
        </p:nvSpPr>
        <p:spPr>
          <a:xfrm>
            <a:off x="5715000" y="1371600"/>
            <a:ext cx="5571720" cy="1104480"/>
          </a:xfrm>
          <a:prstGeom prst="roundRect">
            <a:avLst>
              <a:gd name="adj" fmla="val 6897"/>
            </a:avLst>
          </a:prstGeom>
          <a:solidFill>
            <a:srgbClr val="ffede5"/>
          </a:solidFill>
          <a:ln w="9525">
            <a:solidFill>
              <a:srgbClr val="ffed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"/>
          <p:cNvSpPr/>
          <p:nvPr/>
        </p:nvSpPr>
        <p:spPr>
          <a:xfrm>
            <a:off x="6019920" y="1571760"/>
            <a:ext cx="476208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en-US" sz="1900" spc="-1" strike="noStrike">
                <a:solidFill>
                  <a:srgbClr val="0b1b33"/>
                </a:solidFill>
                <a:latin typeface="Cambria"/>
                <a:ea typeface="Cambria"/>
              </a:rPr>
              <a:t>F verticale = F · cos α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"/>
          <p:cNvSpPr/>
          <p:nvPr/>
        </p:nvSpPr>
        <p:spPr>
          <a:xfrm>
            <a:off x="6019920" y="2000160"/>
            <a:ext cx="476208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en-US" sz="1900" spc="-1" strike="noStrike">
                <a:solidFill>
                  <a:srgbClr val="0b1b33"/>
                </a:solidFill>
                <a:latin typeface="Cambria"/>
                <a:ea typeface="Cambria"/>
              </a:rPr>
              <a:t>F horizontale = F · sin α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physical-explanation"/>
          <p:cNvSpPr/>
          <p:nvPr/>
        </p:nvSpPr>
        <p:spPr>
          <a:xfrm>
            <a:off x="5715000" y="2724120"/>
            <a:ext cx="5571720" cy="1980720"/>
          </a:xfrm>
          <a:prstGeom prst="roundRect">
            <a:avLst>
              <a:gd name="adj" fmla="val 3846"/>
            </a:avLst>
          </a:prstGeom>
          <a:solidFill>
            <a:srgbClr val="f1f1f3"/>
          </a:solidFill>
          <a:ln w="9525">
            <a:solidFill>
              <a:srgbClr val="f1f1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"/>
          <p:cNvSpPr/>
          <p:nvPr/>
        </p:nvSpPr>
        <p:spPr>
          <a:xfrm>
            <a:off x="5981760" y="2933640"/>
            <a:ext cx="476208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en-US" sz="1450" spc="-1" strike="noStrike">
                <a:solidFill>
                  <a:srgbClr val="0b1b33"/>
                </a:solidFill>
                <a:latin typeface="Calibri"/>
                <a:ea typeface="Calibri"/>
              </a:rPr>
              <a:t>Le mécanisme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"/>
          <p:cNvSpPr/>
          <p:nvPr/>
        </p:nvSpPr>
        <p:spPr>
          <a:xfrm>
            <a:off x="5981760" y="3352680"/>
            <a:ext cx="4971600" cy="110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350" spc="-1" strike="noStrike">
                <a:solidFill>
                  <a:srgbClr val="0b1b33"/>
                </a:solidFill>
                <a:latin typeface="Calibri"/>
                <a:ea typeface="Calibri"/>
              </a:rPr>
              <a:t>Les moteurs CC et les bielle-manivelles inclinent le plateau sur deux axes. La poussée est alors déviée : elle corrige l'attitude et peut créer une composante latérale.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sensor-feedback"/>
          <p:cNvSpPr/>
          <p:nvPr/>
        </p:nvSpPr>
        <p:spPr>
          <a:xfrm>
            <a:off x="5715000" y="4952880"/>
            <a:ext cx="5571720" cy="914040"/>
          </a:xfrm>
          <a:prstGeom prst="roundRect">
            <a:avLst>
              <a:gd name="adj" fmla="val 8333"/>
            </a:avLst>
          </a:prstGeom>
          <a:solidFill>
            <a:srgbClr val="eaf1fd"/>
          </a:solidFill>
          <a:ln w="9525">
            <a:solidFill>
              <a:srgbClr val="eaf1f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"/>
          <p:cNvSpPr/>
          <p:nvPr/>
        </p:nvSpPr>
        <p:spPr>
          <a:xfrm>
            <a:off x="5981760" y="5105520"/>
            <a:ext cx="476208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en-US" sz="1400" spc="-1" strike="noStrike">
                <a:solidFill>
                  <a:srgbClr val="0b1b33"/>
                </a:solidFill>
                <a:latin typeface="Calibri"/>
                <a:ea typeface="Calibri"/>
              </a:rPr>
              <a:t>Mesures pour fermer la boucle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"/>
          <p:cNvSpPr/>
          <p:nvPr/>
        </p:nvSpPr>
        <p:spPr>
          <a:xfrm>
            <a:off x="5981760" y="5448240"/>
            <a:ext cx="500040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150" spc="-1" strike="noStrike">
                <a:solidFill>
                  <a:srgbClr val="0b1b33"/>
                </a:solidFill>
                <a:latin typeface="Calibri"/>
                <a:ea typeface="Calibri"/>
              </a:rPr>
              <a:t>Lidars : altitude et distance latérale · Xsens : orientation · Hall : angle des plateaux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Text 0"/>
          <p:cNvSpPr/>
          <p:nvPr/>
        </p:nvSpPr>
        <p:spPr>
          <a:xfrm>
            <a:off x="457200" y="292680"/>
            <a:ext cx="77720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0b1b33"/>
                </a:solidFill>
                <a:latin typeface="Cambria"/>
                <a:ea typeface="Cambria"/>
              </a:rPr>
              <a:t>Axe Z — le seul mouvement autorisé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Shape 1"/>
          <p:cNvSpPr/>
          <p:nvPr/>
        </p:nvSpPr>
        <p:spPr>
          <a:xfrm>
            <a:off x="8942760" y="292680"/>
            <a:ext cx="310680" cy="310680"/>
          </a:xfrm>
          <a:prstGeom prst="ellipse">
            <a:avLst/>
          </a:prstGeom>
          <a:solidFill>
            <a:srgbClr val="ff6b3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8" name="Text 2"/>
          <p:cNvSpPr/>
          <p:nvPr/>
        </p:nvSpPr>
        <p:spPr>
          <a:xfrm>
            <a:off x="8942760" y="29268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Z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Text 3"/>
          <p:cNvSpPr/>
          <p:nvPr/>
        </p:nvSpPr>
        <p:spPr>
          <a:xfrm>
            <a:off x="9345240" y="292680"/>
            <a:ext cx="27428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35"/>
                </a:solidFill>
                <a:latin typeface="Calibri"/>
                <a:ea typeface="Calibri"/>
              </a:rPr>
              <a:t>libre  ·  </a:t>
            </a:r>
            <a:r>
              <a:rPr b="0" lang="en-US" sz="1100" spc="-1" strike="noStrike">
                <a:solidFill>
                  <a:srgbClr val="8a93a6"/>
                </a:solidFill>
                <a:latin typeface="Calibri"/>
                <a:ea typeface="Calibri"/>
              </a:rPr>
              <a:t>x, y, φ, θ, ψ = 0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Shape 4"/>
          <p:cNvSpPr/>
          <p:nvPr/>
        </p:nvSpPr>
        <p:spPr>
          <a:xfrm>
            <a:off x="457200" y="1371600"/>
            <a:ext cx="6400440" cy="1416960"/>
          </a:xfrm>
          <a:prstGeom prst="roundRect">
            <a:avLst>
              <a:gd name="adj" fmla="val 5161"/>
            </a:avLst>
          </a:prstGeom>
          <a:solidFill>
            <a:srgbClr val="ffed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Text 5"/>
          <p:cNvSpPr/>
          <p:nvPr/>
        </p:nvSpPr>
        <p:spPr>
          <a:xfrm>
            <a:off x="713160" y="1517760"/>
            <a:ext cx="5888520" cy="112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i="1" lang="en-US" sz="1500" spc="-1" strike="noStrike">
                <a:solidFill>
                  <a:srgbClr val="0b1b33"/>
                </a:solidFill>
                <a:latin typeface="Cambria"/>
                <a:ea typeface="Cambria"/>
              </a:rPr>
              <a:t>m · h''(t) = F(t) − m·g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i="1" lang="en-US" sz="1500" spc="-1" strike="noStrike">
                <a:solidFill>
                  <a:srgbClr val="0b1b33"/>
                </a:solidFill>
                <a:latin typeface="Cambria"/>
                <a:ea typeface="Cambria"/>
              </a:rPr>
              <a:t>F(t) = k_poussée · duty_poussée(t)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Shape 6"/>
          <p:cNvSpPr/>
          <p:nvPr/>
        </p:nvSpPr>
        <p:spPr>
          <a:xfrm>
            <a:off x="457200" y="3063240"/>
            <a:ext cx="6400440" cy="3062880"/>
          </a:xfrm>
          <a:prstGeom prst="roundRect">
            <a:avLst>
              <a:gd name="adj" fmla="val 2388"/>
            </a:avLst>
          </a:prstGeom>
          <a:solidFill>
            <a:srgbClr val="f1f1f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Text 7"/>
          <p:cNvSpPr/>
          <p:nvPr/>
        </p:nvSpPr>
        <p:spPr>
          <a:xfrm>
            <a:off x="658440" y="3209400"/>
            <a:ext cx="5997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b1b33"/>
                </a:solidFill>
                <a:latin typeface="Calibri"/>
                <a:ea typeface="Calibri"/>
              </a:rPr>
              <a:t>Ce que dit l'équation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Text 8"/>
          <p:cNvSpPr/>
          <p:nvPr/>
        </p:nvSpPr>
        <p:spPr>
          <a:xfrm>
            <a:off x="658440" y="3593520"/>
            <a:ext cx="5997960" cy="238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0b1b33"/>
              </a:buClr>
              <a:buFont typeface="Symbol" charset="2"/>
              <a:buChar char=""/>
            </a:pPr>
            <a:r>
              <a:rPr b="0" lang="en-US" sz="1150" spc="-1" strike="noStrike">
                <a:solidFill>
                  <a:srgbClr val="0b1b33"/>
                </a:solidFill>
                <a:latin typeface="Calibri"/>
                <a:ea typeface="Calibri"/>
              </a:rPr>
              <a:t>La poussée totale F(t) des 4 turbines s'oppose au poids m·g.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0b1b33"/>
              </a:buClr>
              <a:buFont typeface="Symbol" charset="2"/>
              <a:buChar char=""/>
            </a:pPr>
            <a:r>
              <a:rPr b="0" lang="en-US" sz="1150" spc="-1" strike="noStrike">
                <a:solidFill>
                  <a:srgbClr val="0b1b33"/>
                </a:solidFill>
                <a:latin typeface="Calibri"/>
                <a:ea typeface="Calibri"/>
              </a:rPr>
              <a:t>h(t) est la seule position que le système cherche activement à amener à une valeur non nulle (la consigne d'altitude).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0b1b33"/>
              </a:buClr>
              <a:buFont typeface="Symbol" charset="2"/>
              <a:buChar char=""/>
            </a:pPr>
            <a:r>
              <a:rPr b="0" lang="en-US" sz="1150" spc="-1" strike="noStrike">
                <a:solidFill>
                  <a:srgbClr val="0b1b33"/>
                </a:solidFill>
                <a:latin typeface="Calibri"/>
                <a:ea typeface="Calibri"/>
              </a:rPr>
              <a:t>PID_Altitude ajuste duty_poussée pour faire converger h vers la consigne, avec anti-windup (l'intégrale ne s'emballe pas si la sortie sature).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Shape 9"/>
          <p:cNvSpPr/>
          <p:nvPr/>
        </p:nvSpPr>
        <p:spPr>
          <a:xfrm>
            <a:off x="8366760" y="2834640"/>
            <a:ext cx="639720" cy="1005480"/>
          </a:xfrm>
          <a:prstGeom prst="triangle">
            <a:avLst>
              <a:gd name="adj" fmla="val 50000"/>
            </a:avLst>
          </a:prstGeom>
          <a:solidFill>
            <a:srgbClr val="0b1b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6" name="Shape 10"/>
          <p:cNvSpPr/>
          <p:nvPr/>
        </p:nvSpPr>
        <p:spPr>
          <a:xfrm>
            <a:off x="8458200" y="3749040"/>
            <a:ext cx="456840" cy="639720"/>
          </a:xfrm>
          <a:prstGeom prst="rect">
            <a:avLst/>
          </a:prstGeom>
          <a:solidFill>
            <a:srgbClr val="0b1b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7" name="Shape 11"/>
          <p:cNvSpPr/>
          <p:nvPr/>
        </p:nvSpPr>
        <p:spPr>
          <a:xfrm>
            <a:off x="8686800" y="2743200"/>
            <a:ext cx="360" cy="360"/>
          </a:xfrm>
          <a:prstGeom prst="line">
            <a:avLst/>
          </a:prstGeom>
          <a:ln w="22225">
            <a:solidFill>
              <a:srgbClr val="ff6b35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Text 12"/>
          <p:cNvSpPr/>
          <p:nvPr/>
        </p:nvSpPr>
        <p:spPr>
          <a:xfrm>
            <a:off x="8915400" y="1965960"/>
            <a:ext cx="8226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6b35"/>
                </a:solidFill>
                <a:latin typeface="Calibri"/>
                <a:ea typeface="Calibri"/>
              </a:rPr>
              <a:t>F(t)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Shape 13"/>
          <p:cNvSpPr/>
          <p:nvPr/>
        </p:nvSpPr>
        <p:spPr>
          <a:xfrm>
            <a:off x="8686800" y="4480560"/>
            <a:ext cx="360" cy="822960"/>
          </a:xfrm>
          <a:prstGeom prst="line">
            <a:avLst/>
          </a:prstGeom>
          <a:ln w="22225">
            <a:solidFill>
              <a:srgbClr val="8a93a6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Text 14"/>
          <p:cNvSpPr/>
          <p:nvPr/>
        </p:nvSpPr>
        <p:spPr>
          <a:xfrm>
            <a:off x="8915400" y="4754880"/>
            <a:ext cx="8226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8a93a6"/>
                </a:solidFill>
                <a:latin typeface="Calibri"/>
                <a:ea typeface="Calibri"/>
              </a:rPr>
              <a:t>m·g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Text 15"/>
          <p:cNvSpPr/>
          <p:nvPr/>
        </p:nvSpPr>
        <p:spPr>
          <a:xfrm>
            <a:off x="7543800" y="3474720"/>
            <a:ext cx="731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0b1b33"/>
                </a:solidFill>
                <a:latin typeface="Calibri"/>
                <a:ea typeface="Calibri"/>
              </a:rPr>
              <a:t>h(t)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Text 16"/>
          <p:cNvSpPr/>
          <p:nvPr/>
        </p:nvSpPr>
        <p:spPr>
          <a:xfrm>
            <a:off x="11457360" y="640080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b0b6c3"/>
                </a:solidFill>
                <a:latin typeface="Calibri"/>
                <a:ea typeface="Calibri"/>
              </a:rPr>
              <a:t>4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73" name="Connecteur droit avec flèche 19"/>
          <p:cNvCxnSpPr>
            <a:stCxn id="165" idx="0"/>
          </p:cNvCxnSpPr>
          <p:nvPr/>
        </p:nvCxnSpPr>
        <p:spPr>
          <a:xfrm flipV="1">
            <a:off x="8686800" y="1517760"/>
            <a:ext cx="360" cy="1317240"/>
          </a:xfrm>
          <a:prstGeom prst="straightConnector1">
            <a:avLst/>
          </a:prstGeom>
          <a:ln w="19050">
            <a:solidFill>
              <a:srgbClr val="ed7d31"/>
            </a:solidFill>
            <a:round/>
            <a:tailEnd len="med" type="triangle" w="med"/>
          </a:ln>
        </p:spPr>
      </p:cxnSp>
      <p:pic>
        <p:nvPicPr>
          <p:cNvPr id="174" name="Image 21" descr=""/>
          <p:cNvPicPr/>
          <p:nvPr/>
        </p:nvPicPr>
        <p:blipFill>
          <a:blip r:embed="rId1"/>
          <a:stretch/>
        </p:blipFill>
        <p:spPr>
          <a:xfrm>
            <a:off x="9272880" y="2612520"/>
            <a:ext cx="2260080" cy="2043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Text 0"/>
          <p:cNvSpPr/>
          <p:nvPr/>
        </p:nvSpPr>
        <p:spPr>
          <a:xfrm>
            <a:off x="609480" y="36576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b="1" lang="en-US" sz="4270" spc="-1" strike="noStrike">
                <a:solidFill>
                  <a:srgbClr val="1f2a44"/>
                </a:solidFill>
                <a:latin typeface="Cambria"/>
                <a:ea typeface="Cambria"/>
              </a:rPr>
              <a:t>Couple de roulis des turbines</a:t>
            </a:r>
            <a:endParaRPr b="0" lang="en-US" sz="42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Text 1"/>
          <p:cNvSpPr/>
          <p:nvPr/>
        </p:nvSpPr>
        <p:spPr>
          <a:xfrm>
            <a:off x="609480" y="109728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70" spc="-1" strike="noStrike">
                <a:solidFill>
                  <a:srgbClr val="5a6b85"/>
                </a:solidFill>
                <a:latin typeface="Calibri"/>
                <a:ea typeface="Calibri"/>
              </a:rPr>
              <a:t>Couple autour de l'axe Z créé par 2 paires de turbines (vue de dessus)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7" name="Image 0" descr=""/>
          <p:cNvPicPr/>
          <p:nvPr/>
        </p:nvPicPr>
        <p:blipFill>
          <a:blip r:embed="rId1"/>
          <a:stretch/>
        </p:blipFill>
        <p:spPr>
          <a:xfrm>
            <a:off x="609480" y="1706760"/>
            <a:ext cx="3900960" cy="3303720"/>
          </a:xfrm>
          <a:prstGeom prst="rect">
            <a:avLst/>
          </a:prstGeom>
          <a:ln w="0">
            <a:noFill/>
          </a:ln>
        </p:spPr>
      </p:pic>
      <p:sp>
        <p:nvSpPr>
          <p:cNvPr id="178" name="Shape 2"/>
          <p:cNvSpPr/>
          <p:nvPr/>
        </p:nvSpPr>
        <p:spPr>
          <a:xfrm>
            <a:off x="609480" y="5291280"/>
            <a:ext cx="207000" cy="207000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9" name="Text 3"/>
          <p:cNvSpPr/>
          <p:nvPr/>
        </p:nvSpPr>
        <p:spPr>
          <a:xfrm>
            <a:off x="975240" y="5242680"/>
            <a:ext cx="353520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600" spc="-1" strike="noStrike">
                <a:solidFill>
                  <a:srgbClr val="1f2a44"/>
                </a:solidFill>
                <a:latin typeface="Calibri"/>
                <a:ea typeface="Calibri"/>
              </a:rPr>
              <a:t>Groupe bleu : couple +  (anti-horaire)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Shape 4"/>
          <p:cNvSpPr/>
          <p:nvPr/>
        </p:nvSpPr>
        <p:spPr>
          <a:xfrm>
            <a:off x="609480" y="5681520"/>
            <a:ext cx="207000" cy="207000"/>
          </a:xfrm>
          <a:prstGeom prst="ellipse">
            <a:avLst/>
          </a:prstGeom>
          <a:solidFill>
            <a:srgbClr val="70ad47"/>
          </a:solidFill>
          <a:ln w="12700">
            <a:solidFill>
              <a:srgbClr val="70ad4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1" name="Text 5"/>
          <p:cNvSpPr/>
          <p:nvPr/>
        </p:nvSpPr>
        <p:spPr>
          <a:xfrm>
            <a:off x="975240" y="5632560"/>
            <a:ext cx="353520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600" spc="-1" strike="noStrike">
                <a:solidFill>
                  <a:srgbClr val="1f2a44"/>
                </a:solidFill>
                <a:latin typeface="Calibri"/>
                <a:ea typeface="Calibri"/>
              </a:rPr>
              <a:t>Groupe vert : couple −  (horaire)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Text 6"/>
          <p:cNvSpPr/>
          <p:nvPr/>
        </p:nvSpPr>
        <p:spPr>
          <a:xfrm>
            <a:off x="609480" y="6022800"/>
            <a:ext cx="390096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b="1" lang="en-US" sz="1600" spc="-1" strike="noStrike">
                <a:solidFill>
                  <a:srgbClr val="1f2a44"/>
                </a:solidFill>
                <a:latin typeface="Calibri"/>
                <a:ea typeface="Calibri"/>
              </a:rPr>
              <a:t>Une turbine : Ci = ± R · Fi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Shape 7"/>
          <p:cNvSpPr/>
          <p:nvPr/>
        </p:nvSpPr>
        <p:spPr>
          <a:xfrm>
            <a:off x="5242680" y="1706760"/>
            <a:ext cx="6339600" cy="877320"/>
          </a:xfrm>
          <a:prstGeom prst="roundRect">
            <a:avLst>
              <a:gd name="adj" fmla="val 11111"/>
            </a:avLst>
          </a:prstGeom>
          <a:solidFill>
            <a:srgbClr val="eef2f8"/>
          </a:solidFill>
          <a:ln w="12700">
            <a:solidFill>
              <a:srgbClr val="eef2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Shape 8"/>
          <p:cNvSpPr/>
          <p:nvPr/>
        </p:nvSpPr>
        <p:spPr>
          <a:xfrm>
            <a:off x="5425560" y="1938600"/>
            <a:ext cx="414000" cy="41400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5" name="Text 9"/>
          <p:cNvSpPr/>
          <p:nvPr/>
        </p:nvSpPr>
        <p:spPr>
          <a:xfrm>
            <a:off x="5425560" y="1938600"/>
            <a:ext cx="414000" cy="41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  <a:ea typeface="Calibri"/>
              </a:rPr>
              <a:t>1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Text 10"/>
          <p:cNvSpPr/>
          <p:nvPr/>
        </p:nvSpPr>
        <p:spPr>
          <a:xfrm>
            <a:off x="6035040" y="1792080"/>
            <a:ext cx="53640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470" spc="-1" strike="noStrike">
                <a:solidFill>
                  <a:srgbClr val="5a6b85"/>
                </a:solidFill>
                <a:latin typeface="Calibri"/>
                <a:ea typeface="Calibri"/>
              </a:rPr>
              <a:t>Un couple de turbines (même couleur)</a:t>
            </a:r>
            <a:endParaRPr b="0" lang="en-US" sz="14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Text 11"/>
          <p:cNvSpPr/>
          <p:nvPr/>
        </p:nvSpPr>
        <p:spPr>
          <a:xfrm>
            <a:off x="6035040" y="2072520"/>
            <a:ext cx="536400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b="1" lang="en-US" sz="2000" spc="-1" strike="noStrike">
                <a:solidFill>
                  <a:srgbClr val="1f2a44"/>
                </a:solidFill>
                <a:latin typeface="Cambria"/>
                <a:ea typeface="Cambria"/>
              </a:rPr>
              <a:t>C = 2 · R · F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Shape 12"/>
          <p:cNvSpPr/>
          <p:nvPr/>
        </p:nvSpPr>
        <p:spPr>
          <a:xfrm>
            <a:off x="5242680" y="2730960"/>
            <a:ext cx="6339600" cy="877320"/>
          </a:xfrm>
          <a:prstGeom prst="roundRect">
            <a:avLst>
              <a:gd name="adj" fmla="val 11111"/>
            </a:avLst>
          </a:prstGeom>
          <a:solidFill>
            <a:srgbClr val="eef2f8"/>
          </a:solidFill>
          <a:ln w="12700">
            <a:solidFill>
              <a:srgbClr val="eef2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Shape 13"/>
          <p:cNvSpPr/>
          <p:nvPr/>
        </p:nvSpPr>
        <p:spPr>
          <a:xfrm>
            <a:off x="5425560" y="2962800"/>
            <a:ext cx="414000" cy="41400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0" name="Text 14"/>
          <p:cNvSpPr/>
          <p:nvPr/>
        </p:nvSpPr>
        <p:spPr>
          <a:xfrm>
            <a:off x="5425560" y="2962800"/>
            <a:ext cx="414000" cy="41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  <a:ea typeface="Calibri"/>
              </a:rPr>
              <a:t>2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Text 15"/>
          <p:cNvSpPr/>
          <p:nvPr/>
        </p:nvSpPr>
        <p:spPr>
          <a:xfrm>
            <a:off x="6035040" y="2816280"/>
            <a:ext cx="53640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470" spc="-1" strike="noStrike">
                <a:solidFill>
                  <a:srgbClr val="5a6b85"/>
                </a:solidFill>
                <a:latin typeface="Calibri"/>
                <a:ea typeface="Calibri"/>
              </a:rPr>
              <a:t>Les 4 turbines</a:t>
            </a:r>
            <a:endParaRPr b="0" lang="en-US" sz="14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Text 16"/>
          <p:cNvSpPr/>
          <p:nvPr/>
        </p:nvSpPr>
        <p:spPr>
          <a:xfrm>
            <a:off x="6035040" y="3096720"/>
            <a:ext cx="536400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b="1" lang="en-US" sz="2000" spc="-1" strike="noStrike">
                <a:solidFill>
                  <a:srgbClr val="1f2a44"/>
                </a:solidFill>
                <a:latin typeface="Cambria"/>
                <a:ea typeface="Cambria"/>
              </a:rPr>
              <a:t>Cz = R (F1 + F4 − F2 − F3) = 2R (Fb − Fg)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Shape 17"/>
          <p:cNvSpPr/>
          <p:nvPr/>
        </p:nvSpPr>
        <p:spPr>
          <a:xfrm>
            <a:off x="5242680" y="3755160"/>
            <a:ext cx="6339600" cy="877320"/>
          </a:xfrm>
          <a:prstGeom prst="roundRect">
            <a:avLst>
              <a:gd name="adj" fmla="val 11111"/>
            </a:avLst>
          </a:prstGeom>
          <a:solidFill>
            <a:srgbClr val="eef2f8"/>
          </a:solidFill>
          <a:ln w="12700">
            <a:solidFill>
              <a:srgbClr val="eef2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Shape 18"/>
          <p:cNvSpPr/>
          <p:nvPr/>
        </p:nvSpPr>
        <p:spPr>
          <a:xfrm>
            <a:off x="5425560" y="3986640"/>
            <a:ext cx="414000" cy="41400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5" name="Text 19"/>
          <p:cNvSpPr/>
          <p:nvPr/>
        </p:nvSpPr>
        <p:spPr>
          <a:xfrm>
            <a:off x="5425560" y="3986640"/>
            <a:ext cx="414000" cy="41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  <a:ea typeface="Calibri"/>
              </a:rPr>
              <a:t>3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Text 20"/>
          <p:cNvSpPr/>
          <p:nvPr/>
        </p:nvSpPr>
        <p:spPr>
          <a:xfrm>
            <a:off x="6035040" y="3840480"/>
            <a:ext cx="53640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470" spc="-1" strike="noStrike">
                <a:solidFill>
                  <a:srgbClr val="5a6b85"/>
                </a:solidFill>
                <a:latin typeface="Calibri"/>
                <a:ea typeface="Calibri"/>
              </a:rPr>
              <a:t>Avec la commande u ∈ [−1 ; 1]</a:t>
            </a:r>
            <a:endParaRPr b="0" lang="en-US" sz="14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Text 21"/>
          <p:cNvSpPr/>
          <p:nvPr/>
        </p:nvSpPr>
        <p:spPr>
          <a:xfrm>
            <a:off x="6035040" y="4120920"/>
            <a:ext cx="536400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b="1" lang="en-US" sz="2000" spc="-1" strike="noStrike">
                <a:solidFill>
                  <a:srgbClr val="1f2a44"/>
                </a:solidFill>
                <a:latin typeface="Cambria"/>
                <a:ea typeface="Cambria"/>
              </a:rPr>
              <a:t>Cz = 2 · R · Fmax · u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Shape 22"/>
          <p:cNvSpPr/>
          <p:nvPr/>
        </p:nvSpPr>
        <p:spPr>
          <a:xfrm>
            <a:off x="5242680" y="4779360"/>
            <a:ext cx="6339600" cy="877320"/>
          </a:xfrm>
          <a:prstGeom prst="roundRect">
            <a:avLst>
              <a:gd name="adj" fmla="val 11111"/>
            </a:avLst>
          </a:prstGeom>
          <a:solidFill>
            <a:srgbClr val="eef2f8"/>
          </a:solidFill>
          <a:ln w="12700">
            <a:solidFill>
              <a:srgbClr val="eef2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Shape 23"/>
          <p:cNvSpPr/>
          <p:nvPr/>
        </p:nvSpPr>
        <p:spPr>
          <a:xfrm>
            <a:off x="5425560" y="5010840"/>
            <a:ext cx="414000" cy="41400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0" name="Text 24"/>
          <p:cNvSpPr/>
          <p:nvPr/>
        </p:nvSpPr>
        <p:spPr>
          <a:xfrm>
            <a:off x="5425560" y="5010840"/>
            <a:ext cx="414000" cy="41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  <a:ea typeface="Calibri"/>
              </a:rPr>
              <a:t>4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Text 25"/>
          <p:cNvSpPr/>
          <p:nvPr/>
        </p:nvSpPr>
        <p:spPr>
          <a:xfrm>
            <a:off x="6035040" y="4864680"/>
            <a:ext cx="53640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470" spc="-1" strike="noStrike">
                <a:solidFill>
                  <a:srgbClr val="5a6b85"/>
                </a:solidFill>
                <a:latin typeface="Calibri"/>
                <a:ea typeface="Calibri"/>
              </a:rPr>
              <a:t>Dynamique de roulis</a:t>
            </a:r>
            <a:endParaRPr b="0" lang="en-US" sz="14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Text 26"/>
          <p:cNvSpPr/>
          <p:nvPr/>
        </p:nvSpPr>
        <p:spPr>
          <a:xfrm>
            <a:off x="6035040" y="5145120"/>
            <a:ext cx="536400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b="1" lang="en-US" sz="2000" spc="-1" strike="noStrike">
                <a:solidFill>
                  <a:srgbClr val="1f2a44"/>
                </a:solidFill>
                <a:latin typeface="Cambria"/>
                <a:ea typeface="Cambria"/>
              </a:rPr>
              <a:t>Jz · d²θ/dt² = Cz  ⇒  d²θ/dt² = (2R·Fmax / Jz) · u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Text 27"/>
          <p:cNvSpPr/>
          <p:nvPr/>
        </p:nvSpPr>
        <p:spPr>
          <a:xfrm>
            <a:off x="5242680" y="5852160"/>
            <a:ext cx="6339600" cy="48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340" spc="-1" strike="noStrike">
                <a:solidFill>
                  <a:srgbClr val="5a6b85"/>
                </a:solidFill>
                <a:latin typeface="Calibri"/>
                <a:ea typeface="Calibri"/>
              </a:rPr>
              <a:t>R : bras de levier · Fmax ≈ 3,5 à 4,9 N par turbine · u : commande normalisée · Jz : inertie autour de Z</a:t>
            </a:r>
            <a:endParaRPr b="0" lang="en-US" sz="134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204" name="Connecteur droit avec flèche 31"/>
          <p:cNvCxnSpPr/>
          <p:nvPr/>
        </p:nvCxnSpPr>
        <p:spPr>
          <a:xfrm flipV="1">
            <a:off x="2509200" y="2816280"/>
            <a:ext cx="783000" cy="613080"/>
          </a:xfrm>
          <a:prstGeom prst="straightConnector1">
            <a:avLst/>
          </a:prstGeom>
          <a:ln>
            <a:solidFill>
              <a:srgbClr val="ed7d31"/>
            </a:solidFill>
            <a:round/>
            <a:headEnd len="med" type="triangle" w="med"/>
            <a:tailEnd len="med" type="triangle" w="med"/>
          </a:ln>
        </p:spPr>
      </p:cxnSp>
      <p:sp>
        <p:nvSpPr>
          <p:cNvPr id="205" name="ZoneTexte 32"/>
          <p:cNvSpPr/>
          <p:nvPr/>
        </p:nvSpPr>
        <p:spPr>
          <a:xfrm rot="19336800">
            <a:off x="2573280" y="2817000"/>
            <a:ext cx="32148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  <a:ea typeface="Calibri"/>
              </a:rPr>
              <a:t>R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Text 0"/>
          <p:cNvSpPr/>
          <p:nvPr/>
        </p:nvSpPr>
        <p:spPr>
          <a:xfrm>
            <a:off x="457200" y="292680"/>
            <a:ext cx="77720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0b1b33"/>
                </a:solidFill>
                <a:latin typeface="Cambria"/>
                <a:ea typeface="Cambria"/>
              </a:rPr>
              <a:t>Tangage θ et lacet ψ : les 2 plateaux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Shape 1"/>
          <p:cNvSpPr/>
          <p:nvPr/>
        </p:nvSpPr>
        <p:spPr>
          <a:xfrm>
            <a:off x="8942760" y="292680"/>
            <a:ext cx="310680" cy="310680"/>
          </a:xfrm>
          <a:prstGeom prst="ellipse">
            <a:avLst/>
          </a:prstGeom>
          <a:solidFill>
            <a:srgbClr val="ff6b3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8" name="Text 2"/>
          <p:cNvSpPr/>
          <p:nvPr/>
        </p:nvSpPr>
        <p:spPr>
          <a:xfrm>
            <a:off x="8942760" y="29268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Z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Text 3"/>
          <p:cNvSpPr/>
          <p:nvPr/>
        </p:nvSpPr>
        <p:spPr>
          <a:xfrm>
            <a:off x="9345240" y="292680"/>
            <a:ext cx="27428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35"/>
                </a:solidFill>
                <a:latin typeface="Calibri"/>
                <a:ea typeface="Calibri"/>
              </a:rPr>
              <a:t>libre  ·  </a:t>
            </a:r>
            <a:r>
              <a:rPr b="0" lang="en-US" sz="1100" spc="-1" strike="noStrike">
                <a:solidFill>
                  <a:srgbClr val="8a93a6"/>
                </a:solidFill>
                <a:latin typeface="Calibri"/>
                <a:ea typeface="Calibri"/>
              </a:rPr>
              <a:t>x, y, φ, θ, ψ = 0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Shape 4"/>
          <p:cNvSpPr/>
          <p:nvPr/>
        </p:nvSpPr>
        <p:spPr>
          <a:xfrm>
            <a:off x="457200" y="1371600"/>
            <a:ext cx="11246760" cy="1599840"/>
          </a:xfrm>
          <a:prstGeom prst="roundRect">
            <a:avLst>
              <a:gd name="adj" fmla="val 4571"/>
            </a:avLst>
          </a:prstGeom>
          <a:solidFill>
            <a:srgbClr val="ffed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Text 5"/>
          <p:cNvSpPr/>
          <p:nvPr/>
        </p:nvSpPr>
        <p:spPr>
          <a:xfrm>
            <a:off x="713160" y="1517760"/>
            <a:ext cx="10734840" cy="130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i="1" lang="en-US" sz="1500" spc="-1" strike="noStrike">
                <a:solidFill>
                  <a:srgbClr val="0b1b33"/>
                </a:solidFill>
                <a:latin typeface="Cambria"/>
                <a:ea typeface="Cambria"/>
              </a:rPr>
              <a:t>I_θ · θ''(t) = k_plateau · θ1(t)          I_ψ · ψ''(t) = k_plateau · θ2(t)          consigne θ = ψ = 0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Shape 6"/>
          <p:cNvSpPr/>
          <p:nvPr/>
        </p:nvSpPr>
        <p:spPr>
          <a:xfrm>
            <a:off x="457200" y="3200400"/>
            <a:ext cx="5440320" cy="2925720"/>
          </a:xfrm>
          <a:prstGeom prst="roundRect">
            <a:avLst>
              <a:gd name="adj" fmla="val 2500"/>
            </a:avLst>
          </a:prstGeom>
          <a:solidFill>
            <a:srgbClr val="f1f1f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Text 7"/>
          <p:cNvSpPr/>
          <p:nvPr/>
        </p:nvSpPr>
        <p:spPr>
          <a:xfrm>
            <a:off x="658440" y="3346560"/>
            <a:ext cx="5037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b1b33"/>
                </a:solidFill>
                <a:latin typeface="Calibri"/>
                <a:ea typeface="Calibri"/>
              </a:rPr>
              <a:t>Mécanisme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Text 8"/>
          <p:cNvSpPr/>
          <p:nvPr/>
        </p:nvSpPr>
        <p:spPr>
          <a:xfrm>
            <a:off x="658440" y="3730680"/>
            <a:ext cx="5037840" cy="224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0b1b33"/>
              </a:buClr>
              <a:buFont typeface="Symbol" charset="2"/>
              <a:buChar char=""/>
            </a:pPr>
            <a:r>
              <a:rPr b="0" lang="en-US" sz="1150" spc="-1" strike="noStrike">
                <a:solidFill>
                  <a:srgbClr val="0b1b33"/>
                </a:solidFill>
                <a:latin typeface="Calibri"/>
                <a:ea typeface="Calibri"/>
              </a:rPr>
              <a:t>Chaque plateau (1 et 2) est incliné par son propre moteur à courant continu.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0b1b33"/>
              </a:buClr>
              <a:buFont typeface="Symbol" charset="2"/>
              <a:buChar char=""/>
            </a:pPr>
            <a:r>
              <a:rPr b="0" lang="en-US" sz="1150" spc="-1" strike="noStrike">
                <a:solidFill>
                  <a:srgbClr val="0b1b33"/>
                </a:solidFill>
                <a:latin typeface="Calibri"/>
                <a:ea typeface="Calibri"/>
              </a:rPr>
              <a:t>L'inclinaison dévie une partie du flux d'air : elle crée un couple de tangage (plateau 1) ou de lacet (plateau 2).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0b1b33"/>
              </a:buClr>
              <a:buFont typeface="Symbol" charset="2"/>
              <a:buChar char=""/>
            </a:pPr>
            <a:r>
              <a:rPr b="0" lang="en-US" sz="1150" spc="-1" strike="noStrike">
                <a:solidFill>
                  <a:srgbClr val="0b1b33"/>
                </a:solidFill>
                <a:latin typeface="Calibri"/>
                <a:ea typeface="Calibri"/>
              </a:rPr>
              <a:t>HYPOTHÈSE à confirmer sur le câblage réel : plateau 1 → tangage, plateau 2 → lacet.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Shape 9"/>
          <p:cNvSpPr/>
          <p:nvPr/>
        </p:nvSpPr>
        <p:spPr>
          <a:xfrm>
            <a:off x="6172200" y="3200400"/>
            <a:ext cx="5531760" cy="2925720"/>
          </a:xfrm>
          <a:prstGeom prst="roundRect">
            <a:avLst>
              <a:gd name="adj" fmla="val 2500"/>
            </a:avLst>
          </a:prstGeom>
          <a:solidFill>
            <a:srgbClr val="eaf1f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Text 10"/>
          <p:cNvSpPr/>
          <p:nvPr/>
        </p:nvSpPr>
        <p:spPr>
          <a:xfrm>
            <a:off x="6373440" y="3346560"/>
            <a:ext cx="5129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b1b33"/>
                </a:solidFill>
                <a:latin typeface="Calibri"/>
                <a:ea typeface="Calibri"/>
              </a:rPr>
              <a:t>Rôle dans la boucle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Text 11"/>
          <p:cNvSpPr/>
          <p:nvPr/>
        </p:nvSpPr>
        <p:spPr>
          <a:xfrm>
            <a:off x="6373440" y="3730680"/>
            <a:ext cx="5129280" cy="224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0b1b33"/>
              </a:buClr>
              <a:buFont typeface="Symbol" charset="2"/>
              <a:buChar char=""/>
            </a:pPr>
            <a:r>
              <a:rPr b="0" lang="en-US" sz="1150" spc="-1" strike="noStrike">
                <a:solidFill>
                  <a:srgbClr val="0b1b33"/>
                </a:solidFill>
                <a:latin typeface="Calibri"/>
                <a:ea typeface="Calibri"/>
              </a:rPr>
              <a:t>PID_Pitch / PID_Yaw calculent, à partir de l'écart mesuré par l'IMU, l'angle de plateau à viser.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0b1b33"/>
              </a:buClr>
              <a:buFont typeface="Symbol" charset="2"/>
              <a:buChar char=""/>
            </a:pPr>
            <a:r>
              <a:rPr b="0" lang="en-US" sz="1150" spc="-1" strike="noStrike">
                <a:solidFill>
                  <a:srgbClr val="0b1b33"/>
                </a:solidFill>
                <a:latin typeface="Calibri"/>
                <a:ea typeface="Calibri"/>
              </a:rPr>
              <a:t>Un 2ᵉ PID (position) pilote le moteur pour atteindre cet angle — voir l'équation du moteur, diapo suivante.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0b1b33"/>
              </a:buClr>
              <a:buFont typeface="Symbol" charset="2"/>
              <a:buChar char=""/>
            </a:pPr>
            <a:r>
              <a:rPr b="0" lang="en-US" sz="1150" spc="-1" strike="noStrike">
                <a:solidFill>
                  <a:srgbClr val="0b1b33"/>
                </a:solidFill>
                <a:latin typeface="Calibri"/>
                <a:ea typeface="Calibri"/>
              </a:rPr>
              <a:t>Là encore : consigne toujours nulle, seule la correction des perturbations est commandée.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Text 12"/>
          <p:cNvSpPr/>
          <p:nvPr/>
        </p:nvSpPr>
        <p:spPr>
          <a:xfrm>
            <a:off x="11457360" y="640080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b0b6c3"/>
                </a:solidFill>
                <a:latin typeface="Calibri"/>
                <a:ea typeface="Calibri"/>
              </a:rPr>
              <a:t>6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Text 0"/>
          <p:cNvSpPr/>
          <p:nvPr/>
        </p:nvSpPr>
        <p:spPr>
          <a:xfrm>
            <a:off x="457200" y="292680"/>
            <a:ext cx="77720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0b1b33"/>
                </a:solidFill>
                <a:latin typeface="Cambria"/>
                <a:ea typeface="Cambria"/>
              </a:rPr>
              <a:t>L'actionneur : un moteur, un retard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Shape 1"/>
          <p:cNvSpPr/>
          <p:nvPr/>
        </p:nvSpPr>
        <p:spPr>
          <a:xfrm>
            <a:off x="8942760" y="292680"/>
            <a:ext cx="310680" cy="310680"/>
          </a:xfrm>
          <a:prstGeom prst="ellipse">
            <a:avLst/>
          </a:prstGeom>
          <a:solidFill>
            <a:srgbClr val="ff6b3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1" name="Text 2"/>
          <p:cNvSpPr/>
          <p:nvPr/>
        </p:nvSpPr>
        <p:spPr>
          <a:xfrm>
            <a:off x="8942760" y="29268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Z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Text 3"/>
          <p:cNvSpPr/>
          <p:nvPr/>
        </p:nvSpPr>
        <p:spPr>
          <a:xfrm>
            <a:off x="9345240" y="292680"/>
            <a:ext cx="27428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35"/>
                </a:solidFill>
                <a:latin typeface="Calibri"/>
                <a:ea typeface="Calibri"/>
              </a:rPr>
              <a:t>libre  ·  </a:t>
            </a:r>
            <a:r>
              <a:rPr b="0" lang="en-US" sz="1100" spc="-1" strike="noStrike">
                <a:solidFill>
                  <a:srgbClr val="8a93a6"/>
                </a:solidFill>
                <a:latin typeface="Calibri"/>
                <a:ea typeface="Calibri"/>
              </a:rPr>
              <a:t>x, y, φ, θ, ψ = 0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Shape 4"/>
          <p:cNvSpPr/>
          <p:nvPr/>
        </p:nvSpPr>
        <p:spPr>
          <a:xfrm>
            <a:off x="457200" y="1371600"/>
            <a:ext cx="6400440" cy="1782720"/>
          </a:xfrm>
          <a:prstGeom prst="roundRect">
            <a:avLst>
              <a:gd name="adj" fmla="val 4103"/>
            </a:avLst>
          </a:prstGeom>
          <a:solidFill>
            <a:srgbClr val="ffed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Text 5"/>
          <p:cNvSpPr/>
          <p:nvPr/>
        </p:nvSpPr>
        <p:spPr>
          <a:xfrm>
            <a:off x="713160" y="1517760"/>
            <a:ext cx="5888520" cy="149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i="1" lang="en-US" sz="1500" spc="-1" strike="noStrike">
                <a:solidFill>
                  <a:srgbClr val="0b1b33"/>
                </a:solidFill>
                <a:latin typeface="Cambria"/>
                <a:ea typeface="Cambria"/>
              </a:rPr>
              <a:t>T · θi''(t) + θi'(t) = K1 · ui(t) · charge(θi(t))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i="1" lang="en-US" sz="1500" spc="-1" strike="noStrike">
                <a:solidFill>
                  <a:srgbClr val="0b1b33"/>
                </a:solidFill>
                <a:latin typeface="Cambria"/>
                <a:ea typeface="Cambria"/>
              </a:rPr>
              <a:t>charge(θ) = 1 − 0,08 · sin(θ) / sin(3,3°)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Shape 6"/>
          <p:cNvSpPr/>
          <p:nvPr/>
        </p:nvSpPr>
        <p:spPr>
          <a:xfrm>
            <a:off x="457200" y="3337560"/>
            <a:ext cx="6400440" cy="2834280"/>
          </a:xfrm>
          <a:prstGeom prst="roundRect">
            <a:avLst>
              <a:gd name="adj" fmla="val 2581"/>
            </a:avLst>
          </a:prstGeom>
          <a:solidFill>
            <a:srgbClr val="f1f1f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Text 7"/>
          <p:cNvSpPr/>
          <p:nvPr/>
        </p:nvSpPr>
        <p:spPr>
          <a:xfrm>
            <a:off x="658440" y="3483720"/>
            <a:ext cx="5997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b1b33"/>
                </a:solidFill>
                <a:latin typeface="Calibri"/>
                <a:ea typeface="Calibri"/>
              </a:rPr>
              <a:t>Utilité de cette équation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Text 8"/>
          <p:cNvSpPr/>
          <p:nvPr/>
        </p:nvSpPr>
        <p:spPr>
          <a:xfrm>
            <a:off x="658440" y="3867840"/>
            <a:ext cx="5997960" cy="215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0b1b33"/>
              </a:buClr>
              <a:buFont typeface="Symbol" charset="2"/>
              <a:buChar char=""/>
            </a:pPr>
            <a:r>
              <a:rPr b="0" lang="en-US" sz="1150" spc="-1" strike="noStrike">
                <a:solidFill>
                  <a:srgbClr val="0b1b33"/>
                </a:solidFill>
                <a:latin typeface="Calibri"/>
                <a:ea typeface="Calibri"/>
              </a:rPr>
              <a:t>1er ordre : la commande PID ui(t) ne se traduit pas instantanément en angle — il y a un retard, caractérisé par la constante de temps T.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0b1b33"/>
              </a:buClr>
              <a:buFont typeface="Symbol" charset="2"/>
              <a:buChar char=""/>
            </a:pPr>
            <a:r>
              <a:rPr b="0" lang="en-US" sz="1150" spc="-1" strike="noStrike">
                <a:solidFill>
                  <a:srgbClr val="0b1b33"/>
                </a:solidFill>
                <a:latin typeface="Calibri"/>
                <a:ea typeface="Calibri"/>
              </a:rPr>
              <a:t>K1 : vitesse angulaire maximale atteignable (°/s) pour une commande maximale.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0b1b33"/>
              </a:buClr>
              <a:buFont typeface="Symbol" charset="2"/>
              <a:buChar char=""/>
            </a:pPr>
            <a:r>
              <a:rPr b="0" lang="en-US" sz="1150" spc="-1" strike="noStrike">
                <a:solidFill>
                  <a:srgbClr val="0b1b33"/>
                </a:solidFill>
                <a:latin typeface="Calibri"/>
                <a:ea typeface="Calibri"/>
              </a:rPr>
              <a:t>charge(θ) modélise un couple résistant — valable seulement pour de petits angles (au-delà d'environ 46°, le modèle n'est plus physique).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Shape 9"/>
          <p:cNvSpPr/>
          <p:nvPr/>
        </p:nvSpPr>
        <p:spPr>
          <a:xfrm>
            <a:off x="7452360" y="3154680"/>
            <a:ext cx="360" cy="1920240"/>
          </a:xfrm>
          <a:prstGeom prst="line">
            <a:avLst/>
          </a:prstGeom>
          <a:ln w="15875">
            <a:solidFill>
              <a:srgbClr val="8a93a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Shape 10"/>
          <p:cNvSpPr/>
          <p:nvPr/>
        </p:nvSpPr>
        <p:spPr>
          <a:xfrm>
            <a:off x="7452360" y="5074920"/>
            <a:ext cx="3840480" cy="360"/>
          </a:xfrm>
          <a:prstGeom prst="line">
            <a:avLst/>
          </a:prstGeom>
          <a:ln w="15875">
            <a:solidFill>
              <a:srgbClr val="8a93a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Shape 11"/>
          <p:cNvSpPr/>
          <p:nvPr/>
        </p:nvSpPr>
        <p:spPr>
          <a:xfrm>
            <a:off x="7452360" y="3291840"/>
            <a:ext cx="3840480" cy="360"/>
          </a:xfrm>
          <a:prstGeom prst="line">
            <a:avLst/>
          </a:prstGeom>
          <a:ln w="12700">
            <a:solidFill>
              <a:srgbClr val="8a93a6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Shape 12"/>
          <p:cNvSpPr/>
          <p:nvPr/>
        </p:nvSpPr>
        <p:spPr>
          <a:xfrm>
            <a:off x="7452360" y="5074920"/>
            <a:ext cx="159840" cy="360"/>
          </a:xfrm>
          <a:prstGeom prst="line">
            <a:avLst/>
          </a:prstGeom>
          <a:ln w="31750">
            <a:solidFill>
              <a:srgbClr val="ff6b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Shape 13"/>
          <p:cNvSpPr/>
          <p:nvPr/>
        </p:nvSpPr>
        <p:spPr>
          <a:xfrm>
            <a:off x="7612200" y="4800960"/>
            <a:ext cx="160200" cy="360"/>
          </a:xfrm>
          <a:prstGeom prst="line">
            <a:avLst/>
          </a:prstGeom>
          <a:ln w="31750">
            <a:solidFill>
              <a:srgbClr val="ff6b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Shape 14"/>
          <p:cNvSpPr/>
          <p:nvPr/>
        </p:nvSpPr>
        <p:spPr>
          <a:xfrm>
            <a:off x="7772400" y="4569120"/>
            <a:ext cx="159840" cy="360"/>
          </a:xfrm>
          <a:prstGeom prst="line">
            <a:avLst/>
          </a:prstGeom>
          <a:ln w="31750">
            <a:solidFill>
              <a:srgbClr val="ff6b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Shape 15"/>
          <p:cNvSpPr/>
          <p:nvPr/>
        </p:nvSpPr>
        <p:spPr>
          <a:xfrm>
            <a:off x="7932240" y="4373280"/>
            <a:ext cx="160200" cy="360"/>
          </a:xfrm>
          <a:prstGeom prst="line">
            <a:avLst/>
          </a:prstGeom>
          <a:ln w="31750">
            <a:solidFill>
              <a:srgbClr val="ff6b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Shape 16"/>
          <p:cNvSpPr/>
          <p:nvPr/>
        </p:nvSpPr>
        <p:spPr>
          <a:xfrm>
            <a:off x="8092440" y="4206960"/>
            <a:ext cx="159840" cy="360"/>
          </a:xfrm>
          <a:prstGeom prst="line">
            <a:avLst/>
          </a:prstGeom>
          <a:ln w="31750">
            <a:solidFill>
              <a:srgbClr val="ff6b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Shape 17"/>
          <p:cNvSpPr/>
          <p:nvPr/>
        </p:nvSpPr>
        <p:spPr>
          <a:xfrm>
            <a:off x="8252280" y="4066560"/>
            <a:ext cx="160200" cy="360"/>
          </a:xfrm>
          <a:prstGeom prst="line">
            <a:avLst/>
          </a:prstGeom>
          <a:ln w="31750">
            <a:solidFill>
              <a:srgbClr val="ff6b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Shape 18"/>
          <p:cNvSpPr/>
          <p:nvPr/>
        </p:nvSpPr>
        <p:spPr>
          <a:xfrm>
            <a:off x="8412480" y="3947760"/>
            <a:ext cx="159840" cy="360"/>
          </a:xfrm>
          <a:prstGeom prst="line">
            <a:avLst/>
          </a:prstGeom>
          <a:ln w="31750">
            <a:solidFill>
              <a:srgbClr val="ff6b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Shape 19"/>
          <p:cNvSpPr/>
          <p:nvPr/>
        </p:nvSpPr>
        <p:spPr>
          <a:xfrm>
            <a:off x="8572320" y="3846960"/>
            <a:ext cx="160200" cy="360"/>
          </a:xfrm>
          <a:prstGeom prst="line">
            <a:avLst/>
          </a:prstGeom>
          <a:ln w="31750">
            <a:solidFill>
              <a:srgbClr val="ff6b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Shape 20"/>
          <p:cNvSpPr/>
          <p:nvPr/>
        </p:nvSpPr>
        <p:spPr>
          <a:xfrm>
            <a:off x="8732520" y="3761640"/>
            <a:ext cx="159840" cy="360"/>
          </a:xfrm>
          <a:prstGeom prst="line">
            <a:avLst/>
          </a:prstGeom>
          <a:ln w="31750">
            <a:solidFill>
              <a:srgbClr val="ff6b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Shape 21"/>
          <p:cNvSpPr/>
          <p:nvPr/>
        </p:nvSpPr>
        <p:spPr>
          <a:xfrm>
            <a:off x="8892360" y="3689640"/>
            <a:ext cx="160200" cy="360"/>
          </a:xfrm>
          <a:prstGeom prst="line">
            <a:avLst/>
          </a:prstGeom>
          <a:ln w="31750">
            <a:solidFill>
              <a:srgbClr val="ff6b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Shape 22"/>
          <p:cNvSpPr/>
          <p:nvPr/>
        </p:nvSpPr>
        <p:spPr>
          <a:xfrm>
            <a:off x="9052560" y="3628440"/>
            <a:ext cx="159840" cy="360"/>
          </a:xfrm>
          <a:prstGeom prst="line">
            <a:avLst/>
          </a:prstGeom>
          <a:ln w="31750">
            <a:solidFill>
              <a:srgbClr val="ff6b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Shape 23"/>
          <p:cNvSpPr/>
          <p:nvPr/>
        </p:nvSpPr>
        <p:spPr>
          <a:xfrm>
            <a:off x="9212400" y="3576600"/>
            <a:ext cx="160200" cy="360"/>
          </a:xfrm>
          <a:prstGeom prst="line">
            <a:avLst/>
          </a:prstGeom>
          <a:ln w="31750">
            <a:solidFill>
              <a:srgbClr val="ff6b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Shape 24"/>
          <p:cNvSpPr/>
          <p:nvPr/>
        </p:nvSpPr>
        <p:spPr>
          <a:xfrm>
            <a:off x="9372600" y="3533040"/>
            <a:ext cx="159840" cy="360"/>
          </a:xfrm>
          <a:prstGeom prst="line">
            <a:avLst/>
          </a:prstGeom>
          <a:ln w="31750">
            <a:solidFill>
              <a:srgbClr val="ff6b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Shape 25"/>
          <p:cNvSpPr/>
          <p:nvPr/>
        </p:nvSpPr>
        <p:spPr>
          <a:xfrm>
            <a:off x="9532440" y="3495960"/>
            <a:ext cx="160200" cy="360"/>
          </a:xfrm>
          <a:prstGeom prst="line">
            <a:avLst/>
          </a:prstGeom>
          <a:ln w="31750">
            <a:solidFill>
              <a:srgbClr val="ff6b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Shape 26"/>
          <p:cNvSpPr/>
          <p:nvPr/>
        </p:nvSpPr>
        <p:spPr>
          <a:xfrm>
            <a:off x="9692640" y="3464640"/>
            <a:ext cx="159840" cy="360"/>
          </a:xfrm>
          <a:prstGeom prst="line">
            <a:avLst/>
          </a:prstGeom>
          <a:ln w="31750">
            <a:solidFill>
              <a:srgbClr val="ff6b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Shape 27"/>
          <p:cNvSpPr/>
          <p:nvPr/>
        </p:nvSpPr>
        <p:spPr>
          <a:xfrm>
            <a:off x="9852480" y="3438000"/>
            <a:ext cx="160200" cy="360"/>
          </a:xfrm>
          <a:prstGeom prst="line">
            <a:avLst/>
          </a:prstGeom>
          <a:ln w="31750">
            <a:solidFill>
              <a:srgbClr val="ff6b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Shape 28"/>
          <p:cNvSpPr/>
          <p:nvPr/>
        </p:nvSpPr>
        <p:spPr>
          <a:xfrm>
            <a:off x="10012680" y="3415680"/>
            <a:ext cx="159840" cy="360"/>
          </a:xfrm>
          <a:prstGeom prst="line">
            <a:avLst/>
          </a:prstGeom>
          <a:ln w="31750">
            <a:solidFill>
              <a:srgbClr val="ff6b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Shape 29"/>
          <p:cNvSpPr/>
          <p:nvPr/>
        </p:nvSpPr>
        <p:spPr>
          <a:xfrm>
            <a:off x="10172520" y="3396600"/>
            <a:ext cx="160200" cy="360"/>
          </a:xfrm>
          <a:prstGeom prst="line">
            <a:avLst/>
          </a:prstGeom>
          <a:ln w="31750">
            <a:solidFill>
              <a:srgbClr val="ff6b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Shape 30"/>
          <p:cNvSpPr/>
          <p:nvPr/>
        </p:nvSpPr>
        <p:spPr>
          <a:xfrm>
            <a:off x="10332720" y="3380400"/>
            <a:ext cx="159840" cy="360"/>
          </a:xfrm>
          <a:prstGeom prst="line">
            <a:avLst/>
          </a:prstGeom>
          <a:ln w="31750">
            <a:solidFill>
              <a:srgbClr val="ff6b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Shape 31"/>
          <p:cNvSpPr/>
          <p:nvPr/>
        </p:nvSpPr>
        <p:spPr>
          <a:xfrm>
            <a:off x="10492560" y="3366720"/>
            <a:ext cx="160200" cy="360"/>
          </a:xfrm>
          <a:prstGeom prst="line">
            <a:avLst/>
          </a:prstGeom>
          <a:ln w="31750">
            <a:solidFill>
              <a:srgbClr val="ff6b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Shape 32"/>
          <p:cNvSpPr/>
          <p:nvPr/>
        </p:nvSpPr>
        <p:spPr>
          <a:xfrm>
            <a:off x="10652760" y="3355200"/>
            <a:ext cx="159840" cy="360"/>
          </a:xfrm>
          <a:prstGeom prst="line">
            <a:avLst/>
          </a:prstGeom>
          <a:ln w="31750">
            <a:solidFill>
              <a:srgbClr val="ff6b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Shape 33"/>
          <p:cNvSpPr/>
          <p:nvPr/>
        </p:nvSpPr>
        <p:spPr>
          <a:xfrm>
            <a:off x="10812600" y="3345480"/>
            <a:ext cx="160200" cy="360"/>
          </a:xfrm>
          <a:prstGeom prst="line">
            <a:avLst/>
          </a:prstGeom>
          <a:ln w="31750">
            <a:solidFill>
              <a:srgbClr val="ff6b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Shape 34"/>
          <p:cNvSpPr/>
          <p:nvPr/>
        </p:nvSpPr>
        <p:spPr>
          <a:xfrm>
            <a:off x="10972800" y="3337200"/>
            <a:ext cx="159840" cy="360"/>
          </a:xfrm>
          <a:prstGeom prst="line">
            <a:avLst/>
          </a:prstGeom>
          <a:ln w="31750">
            <a:solidFill>
              <a:srgbClr val="ff6b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Shape 35"/>
          <p:cNvSpPr/>
          <p:nvPr/>
        </p:nvSpPr>
        <p:spPr>
          <a:xfrm>
            <a:off x="11132640" y="3330360"/>
            <a:ext cx="160200" cy="360"/>
          </a:xfrm>
          <a:prstGeom prst="line">
            <a:avLst/>
          </a:prstGeom>
          <a:ln w="31750">
            <a:solidFill>
              <a:srgbClr val="ff6b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Text 36"/>
          <p:cNvSpPr/>
          <p:nvPr/>
        </p:nvSpPr>
        <p:spPr>
          <a:xfrm>
            <a:off x="6995160" y="31546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b1b33"/>
                </a:solidFill>
                <a:latin typeface="Calibri"/>
                <a:ea typeface="Calibri"/>
              </a:rPr>
              <a:t>θi(t)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Text 37"/>
          <p:cNvSpPr/>
          <p:nvPr/>
        </p:nvSpPr>
        <p:spPr>
          <a:xfrm>
            <a:off x="11155680" y="510228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b1b33"/>
                </a:solidFill>
                <a:latin typeface="Calibri"/>
                <a:ea typeface="Calibri"/>
              </a:rPr>
              <a:t>t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Text 38"/>
          <p:cNvSpPr/>
          <p:nvPr/>
        </p:nvSpPr>
        <p:spPr>
          <a:xfrm>
            <a:off x="7178040" y="5303520"/>
            <a:ext cx="43887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50" spc="-1" strike="noStrike">
                <a:solidFill>
                  <a:srgbClr val="8a93a6"/>
                </a:solidFill>
                <a:latin typeface="Calibri"/>
                <a:ea typeface="Calibri"/>
              </a:rPr>
              <a:t>Réponse à un échelon de commande (1er ordre)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Text 39"/>
          <p:cNvSpPr/>
          <p:nvPr/>
        </p:nvSpPr>
        <p:spPr>
          <a:xfrm>
            <a:off x="11457360" y="640080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b0b6c3"/>
                </a:solidFill>
                <a:latin typeface="Calibri"/>
                <a:ea typeface="Calibri"/>
              </a:rPr>
              <a:t>7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Text 0"/>
          <p:cNvSpPr/>
          <p:nvPr/>
        </p:nvSpPr>
        <p:spPr>
          <a:xfrm>
            <a:off x="457200" y="292680"/>
            <a:ext cx="77720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0b1b33"/>
                </a:solidFill>
                <a:latin typeface="Cambria"/>
                <a:ea typeface="Cambria"/>
              </a:rPr>
              <a:t>Une seule brique, réutilisée 7 fois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Shape 1"/>
          <p:cNvSpPr/>
          <p:nvPr/>
        </p:nvSpPr>
        <p:spPr>
          <a:xfrm>
            <a:off x="8942760" y="292680"/>
            <a:ext cx="310680" cy="310680"/>
          </a:xfrm>
          <a:prstGeom prst="ellipse">
            <a:avLst/>
          </a:prstGeom>
          <a:solidFill>
            <a:srgbClr val="ff6b3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1" name="Text 2"/>
          <p:cNvSpPr/>
          <p:nvPr/>
        </p:nvSpPr>
        <p:spPr>
          <a:xfrm>
            <a:off x="8942760" y="29268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Z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Text 3"/>
          <p:cNvSpPr/>
          <p:nvPr/>
        </p:nvSpPr>
        <p:spPr>
          <a:xfrm>
            <a:off x="9345240" y="292680"/>
            <a:ext cx="27428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35"/>
                </a:solidFill>
                <a:latin typeface="Calibri"/>
                <a:ea typeface="Calibri"/>
              </a:rPr>
              <a:t>libre  ·  </a:t>
            </a:r>
            <a:r>
              <a:rPr b="0" lang="en-US" sz="1100" spc="-1" strike="noStrike">
                <a:solidFill>
                  <a:srgbClr val="8a93a6"/>
                </a:solidFill>
                <a:latin typeface="Calibri"/>
                <a:ea typeface="Calibri"/>
              </a:rPr>
              <a:t>x, y, φ, θ, ψ = 0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Shape 4"/>
          <p:cNvSpPr/>
          <p:nvPr/>
        </p:nvSpPr>
        <p:spPr>
          <a:xfrm>
            <a:off x="457200" y="1371600"/>
            <a:ext cx="11246760" cy="1234080"/>
          </a:xfrm>
          <a:prstGeom prst="roundRect">
            <a:avLst>
              <a:gd name="adj" fmla="val 5926"/>
            </a:avLst>
          </a:prstGeom>
          <a:solidFill>
            <a:srgbClr val="ffed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Text 5"/>
          <p:cNvSpPr/>
          <p:nvPr/>
        </p:nvSpPr>
        <p:spPr>
          <a:xfrm>
            <a:off x="713160" y="1517760"/>
            <a:ext cx="10734840" cy="94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i="1" lang="en-US" sz="1500" spc="-1" strike="noStrike">
                <a:solidFill>
                  <a:srgbClr val="0b1b33"/>
                </a:solidFill>
                <a:latin typeface="Cambria"/>
                <a:ea typeface="Cambria"/>
              </a:rPr>
              <a:t>u(t) = Kp·e(t)  +  Ki·∫e(τ)dτ  +  Kd·e'(t)          avec  e(t) = consigne(t) − mesure(t)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Shape 6"/>
          <p:cNvSpPr/>
          <p:nvPr/>
        </p:nvSpPr>
        <p:spPr>
          <a:xfrm>
            <a:off x="457200" y="2880360"/>
            <a:ext cx="3565800" cy="1416960"/>
          </a:xfrm>
          <a:prstGeom prst="roundRect">
            <a:avLst>
              <a:gd name="adj" fmla="val 5806"/>
            </a:avLst>
          </a:prstGeom>
          <a:solidFill>
            <a:srgbClr val="eaf1f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Text 7"/>
          <p:cNvSpPr/>
          <p:nvPr/>
        </p:nvSpPr>
        <p:spPr>
          <a:xfrm>
            <a:off x="658440" y="2990160"/>
            <a:ext cx="9140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pc="-1" strike="noStrike">
                <a:solidFill>
                  <a:srgbClr val="0b1b33"/>
                </a:solidFill>
                <a:latin typeface="Cambria"/>
                <a:ea typeface="Cambria"/>
              </a:rPr>
              <a:t>P</a:t>
            </a:r>
            <a:endParaRPr b="0" lang="en-US" sz="3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Text 8"/>
          <p:cNvSpPr/>
          <p:nvPr/>
        </p:nvSpPr>
        <p:spPr>
          <a:xfrm>
            <a:off x="1508760" y="3063240"/>
            <a:ext cx="233136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b1b33"/>
                </a:solidFill>
                <a:latin typeface="Calibri"/>
                <a:ea typeface="Calibri"/>
              </a:rPr>
              <a:t>proportionnel</a:t>
            </a:r>
            <a:br>
              <a:rPr sz="1200"/>
            </a:b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0b1b33"/>
                </a:solidFill>
                <a:latin typeface="Calibri"/>
                <a:ea typeface="Calibri"/>
              </a:rPr>
              <a:t>réagit à l'écart présent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Shape 9"/>
          <p:cNvSpPr/>
          <p:nvPr/>
        </p:nvSpPr>
        <p:spPr>
          <a:xfrm>
            <a:off x="4279320" y="2880360"/>
            <a:ext cx="3565800" cy="1416960"/>
          </a:xfrm>
          <a:prstGeom prst="roundRect">
            <a:avLst>
              <a:gd name="adj" fmla="val 5806"/>
            </a:avLst>
          </a:prstGeom>
          <a:solidFill>
            <a:srgbClr val="eaf1f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Text 10"/>
          <p:cNvSpPr/>
          <p:nvPr/>
        </p:nvSpPr>
        <p:spPr>
          <a:xfrm>
            <a:off x="4480560" y="2990160"/>
            <a:ext cx="9140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pc="-1" strike="noStrike">
                <a:solidFill>
                  <a:srgbClr val="0b1b33"/>
                </a:solidFill>
                <a:latin typeface="Cambria"/>
                <a:ea typeface="Cambria"/>
              </a:rPr>
              <a:t>I</a:t>
            </a:r>
            <a:endParaRPr b="0" lang="en-US" sz="3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Text 11"/>
          <p:cNvSpPr/>
          <p:nvPr/>
        </p:nvSpPr>
        <p:spPr>
          <a:xfrm>
            <a:off x="5330880" y="3063240"/>
            <a:ext cx="233136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b1b33"/>
                </a:solidFill>
                <a:latin typeface="Calibri"/>
                <a:ea typeface="Calibri"/>
              </a:rPr>
              <a:t>intégral</a:t>
            </a:r>
            <a:br>
              <a:rPr sz="1200"/>
            </a:b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0b1b33"/>
                </a:solidFill>
                <a:latin typeface="Calibri"/>
                <a:ea typeface="Calibri"/>
              </a:rPr>
              <a:t>élimine l'erreur qui persiste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Shape 12"/>
          <p:cNvSpPr/>
          <p:nvPr/>
        </p:nvSpPr>
        <p:spPr>
          <a:xfrm>
            <a:off x="8101440" y="2880360"/>
            <a:ext cx="3565800" cy="1416960"/>
          </a:xfrm>
          <a:prstGeom prst="roundRect">
            <a:avLst>
              <a:gd name="adj" fmla="val 5806"/>
            </a:avLst>
          </a:prstGeom>
          <a:solidFill>
            <a:srgbClr val="eaf1f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" name="Text 13"/>
          <p:cNvSpPr/>
          <p:nvPr/>
        </p:nvSpPr>
        <p:spPr>
          <a:xfrm>
            <a:off x="8302680" y="2990160"/>
            <a:ext cx="9140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pc="-1" strike="noStrike">
                <a:solidFill>
                  <a:srgbClr val="0b1b33"/>
                </a:solidFill>
                <a:latin typeface="Cambria"/>
                <a:ea typeface="Cambria"/>
              </a:rPr>
              <a:t>D</a:t>
            </a:r>
            <a:endParaRPr b="0" lang="en-US" sz="3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" name="Text 14"/>
          <p:cNvSpPr/>
          <p:nvPr/>
        </p:nvSpPr>
        <p:spPr>
          <a:xfrm>
            <a:off x="9153000" y="3063240"/>
            <a:ext cx="233136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b1b33"/>
                </a:solidFill>
                <a:latin typeface="Calibri"/>
                <a:ea typeface="Calibri"/>
              </a:rPr>
              <a:t>dérivé</a:t>
            </a:r>
            <a:br>
              <a:rPr sz="1200"/>
            </a:b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0b1b33"/>
                </a:solidFill>
                <a:latin typeface="Calibri"/>
                <a:ea typeface="Calibri"/>
              </a:rPr>
              <a:t>anticipe / amortit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Shape 15"/>
          <p:cNvSpPr/>
          <p:nvPr/>
        </p:nvSpPr>
        <p:spPr>
          <a:xfrm>
            <a:off x="457200" y="4572000"/>
            <a:ext cx="11246760" cy="1737000"/>
          </a:xfrm>
          <a:prstGeom prst="roundRect">
            <a:avLst>
              <a:gd name="adj" fmla="val 4211"/>
            </a:avLst>
          </a:prstGeom>
          <a:solidFill>
            <a:srgbClr val="f1f1f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Text 16"/>
          <p:cNvSpPr/>
          <p:nvPr/>
        </p:nvSpPr>
        <p:spPr>
          <a:xfrm>
            <a:off x="658440" y="4718160"/>
            <a:ext cx="10844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b1b33"/>
                </a:solidFill>
                <a:latin typeface="Calibri"/>
                <a:ea typeface="Calibri"/>
              </a:rPr>
              <a:t>7 instances, 1 seule structure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" name="Text 17"/>
          <p:cNvSpPr/>
          <p:nvPr/>
        </p:nvSpPr>
        <p:spPr>
          <a:xfrm>
            <a:off x="658440" y="5102280"/>
            <a:ext cx="10844280" cy="10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0b1b33"/>
              </a:buClr>
              <a:buFont typeface="Symbol" charset="2"/>
              <a:buChar char=""/>
            </a:pPr>
            <a:r>
              <a:rPr b="0" lang="en-US" sz="1150" spc="-1" strike="noStrike">
                <a:solidFill>
                  <a:srgbClr val="0b1b33"/>
                </a:solidFill>
                <a:latin typeface="Calibri"/>
                <a:ea typeface="Calibri"/>
              </a:rPr>
              <a:t>Altitude, Roulis, Tangage, Lacet, + 2 régulateurs de position (un par plateau) : même code, gains Kp/Ki/Kd propres à chacun.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0b1b33"/>
              </a:buClr>
              <a:buFont typeface="Symbol" charset="2"/>
              <a:buChar char=""/>
            </a:pPr>
            <a:r>
              <a:rPr b="0" lang="en-US" sz="1150" spc="-1" strike="noStrike">
                <a:solidFill>
                  <a:srgbClr val="0b1b33"/>
                </a:solidFill>
                <a:latin typeface="Calibri"/>
                <a:ea typeface="Calibri"/>
              </a:rPr>
              <a:t>Version réellement implémentée : forme récursive discrète (pas Ts = 10 ms), avec anti-windup sur la boucle d'altitude.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Text 18"/>
          <p:cNvSpPr/>
          <p:nvPr/>
        </p:nvSpPr>
        <p:spPr>
          <a:xfrm>
            <a:off x="11457360" y="640080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b0b6c3"/>
                </a:solidFill>
                <a:latin typeface="Calibri"/>
                <a:ea typeface="Calibri"/>
              </a:rPr>
              <a:t>8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Text 0"/>
          <p:cNvSpPr/>
          <p:nvPr/>
        </p:nvSpPr>
        <p:spPr>
          <a:xfrm>
            <a:off x="457200" y="292680"/>
            <a:ext cx="77720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0b1b33"/>
                </a:solidFill>
                <a:latin typeface="Cambria"/>
                <a:ea typeface="Cambria"/>
              </a:rPr>
              <a:t>Synthèse : qui commande quoi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Shape 1"/>
          <p:cNvSpPr/>
          <p:nvPr/>
        </p:nvSpPr>
        <p:spPr>
          <a:xfrm>
            <a:off x="8942760" y="292680"/>
            <a:ext cx="310680" cy="310680"/>
          </a:xfrm>
          <a:prstGeom prst="ellipse">
            <a:avLst/>
          </a:prstGeom>
          <a:solidFill>
            <a:srgbClr val="ff6b3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0" name="Text 2"/>
          <p:cNvSpPr/>
          <p:nvPr/>
        </p:nvSpPr>
        <p:spPr>
          <a:xfrm>
            <a:off x="8942760" y="29268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Z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" name="Text 3"/>
          <p:cNvSpPr/>
          <p:nvPr/>
        </p:nvSpPr>
        <p:spPr>
          <a:xfrm>
            <a:off x="9345240" y="292680"/>
            <a:ext cx="27428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35"/>
                </a:solidFill>
                <a:latin typeface="Calibri"/>
                <a:ea typeface="Calibri"/>
              </a:rPr>
              <a:t>libre  ·  </a:t>
            </a:r>
            <a:r>
              <a:rPr b="0" lang="en-US" sz="1100" spc="-1" strike="noStrike">
                <a:solidFill>
                  <a:srgbClr val="8a93a6"/>
                </a:solidFill>
                <a:latin typeface="Calibri"/>
                <a:ea typeface="Calibri"/>
              </a:rPr>
              <a:t>x, y, φ, θ, ψ = 0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" name="Shape 4"/>
          <p:cNvSpPr/>
          <p:nvPr/>
        </p:nvSpPr>
        <p:spPr>
          <a:xfrm>
            <a:off x="457200" y="1417320"/>
            <a:ext cx="2011320" cy="712800"/>
          </a:xfrm>
          <a:prstGeom prst="rect">
            <a:avLst/>
          </a:prstGeom>
          <a:solidFill>
            <a:srgbClr val="0b1b33"/>
          </a:solidFill>
          <a:ln w="9525">
            <a:solidFill>
              <a:srgbClr val="e3e6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3" name="Text 5"/>
          <p:cNvSpPr/>
          <p:nvPr/>
        </p:nvSpPr>
        <p:spPr>
          <a:xfrm>
            <a:off x="594360" y="1417320"/>
            <a:ext cx="173700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Axe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" name="Shape 6"/>
          <p:cNvSpPr/>
          <p:nvPr/>
        </p:nvSpPr>
        <p:spPr>
          <a:xfrm>
            <a:off x="2468880" y="1417320"/>
            <a:ext cx="1828440" cy="712800"/>
          </a:xfrm>
          <a:prstGeom prst="rect">
            <a:avLst/>
          </a:prstGeom>
          <a:solidFill>
            <a:srgbClr val="0b1b33"/>
          </a:solidFill>
          <a:ln w="9525">
            <a:solidFill>
              <a:srgbClr val="e3e6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5" name="Text 7"/>
          <p:cNvSpPr/>
          <p:nvPr/>
        </p:nvSpPr>
        <p:spPr>
          <a:xfrm>
            <a:off x="2606040" y="1417320"/>
            <a:ext cx="155412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Consigne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Shape 8"/>
          <p:cNvSpPr/>
          <p:nvPr/>
        </p:nvSpPr>
        <p:spPr>
          <a:xfrm>
            <a:off x="4297680" y="1417320"/>
            <a:ext cx="2194200" cy="712800"/>
          </a:xfrm>
          <a:prstGeom prst="rect">
            <a:avLst/>
          </a:prstGeom>
          <a:solidFill>
            <a:srgbClr val="0b1b33"/>
          </a:solidFill>
          <a:ln w="9525">
            <a:solidFill>
              <a:srgbClr val="e3e6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7" name="Text 9"/>
          <p:cNvSpPr/>
          <p:nvPr/>
        </p:nvSpPr>
        <p:spPr>
          <a:xfrm>
            <a:off x="4434840" y="1417320"/>
            <a:ext cx="191988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Capteur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Shape 10"/>
          <p:cNvSpPr/>
          <p:nvPr/>
        </p:nvSpPr>
        <p:spPr>
          <a:xfrm>
            <a:off x="6492240" y="1417320"/>
            <a:ext cx="2468520" cy="712800"/>
          </a:xfrm>
          <a:prstGeom prst="rect">
            <a:avLst/>
          </a:prstGeom>
          <a:solidFill>
            <a:srgbClr val="0b1b33"/>
          </a:solidFill>
          <a:ln w="9525">
            <a:solidFill>
              <a:srgbClr val="e3e6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9" name="Text 11"/>
          <p:cNvSpPr/>
          <p:nvPr/>
        </p:nvSpPr>
        <p:spPr>
          <a:xfrm>
            <a:off x="6629400" y="1417320"/>
            <a:ext cx="219420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Actionneur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" name="Shape 12"/>
          <p:cNvSpPr/>
          <p:nvPr/>
        </p:nvSpPr>
        <p:spPr>
          <a:xfrm>
            <a:off x="8961120" y="1417320"/>
            <a:ext cx="2742840" cy="712800"/>
          </a:xfrm>
          <a:prstGeom prst="rect">
            <a:avLst/>
          </a:prstGeom>
          <a:solidFill>
            <a:srgbClr val="0b1b33"/>
          </a:solidFill>
          <a:ln w="9525">
            <a:solidFill>
              <a:srgbClr val="e3e6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1" name="Text 13"/>
          <p:cNvSpPr/>
          <p:nvPr/>
        </p:nvSpPr>
        <p:spPr>
          <a:xfrm>
            <a:off x="9098280" y="1417320"/>
            <a:ext cx="246852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Régulateur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Shape 14"/>
          <p:cNvSpPr/>
          <p:nvPr/>
        </p:nvSpPr>
        <p:spPr>
          <a:xfrm>
            <a:off x="457200" y="2130480"/>
            <a:ext cx="2011320" cy="712800"/>
          </a:xfrm>
          <a:prstGeom prst="rect">
            <a:avLst/>
          </a:prstGeom>
          <a:solidFill>
            <a:srgbClr val="ffede5"/>
          </a:solidFill>
          <a:ln w="9525">
            <a:solidFill>
              <a:srgbClr val="e3e6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" name="Text 15"/>
          <p:cNvSpPr/>
          <p:nvPr/>
        </p:nvSpPr>
        <p:spPr>
          <a:xfrm>
            <a:off x="594360" y="2130480"/>
            <a:ext cx="173700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0b1b33"/>
                </a:solidFill>
                <a:latin typeface="Calibri"/>
                <a:ea typeface="Calibri"/>
              </a:rPr>
              <a:t>Z (altitude)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" name="Shape 16"/>
          <p:cNvSpPr/>
          <p:nvPr/>
        </p:nvSpPr>
        <p:spPr>
          <a:xfrm>
            <a:off x="2468880" y="2130480"/>
            <a:ext cx="1828440" cy="712800"/>
          </a:xfrm>
          <a:prstGeom prst="rect">
            <a:avLst/>
          </a:prstGeom>
          <a:solidFill>
            <a:srgbClr val="ffede5"/>
          </a:solidFill>
          <a:ln w="9525">
            <a:solidFill>
              <a:srgbClr val="e3e6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Text 17"/>
          <p:cNvSpPr/>
          <p:nvPr/>
        </p:nvSpPr>
        <p:spPr>
          <a:xfrm>
            <a:off x="2606040" y="2130480"/>
            <a:ext cx="155412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0b1b33"/>
                </a:solidFill>
                <a:latin typeface="Calibri"/>
                <a:ea typeface="Calibri"/>
              </a:rPr>
              <a:t>libre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" name="Shape 18"/>
          <p:cNvSpPr/>
          <p:nvPr/>
        </p:nvSpPr>
        <p:spPr>
          <a:xfrm>
            <a:off x="4297680" y="2130480"/>
            <a:ext cx="2194200" cy="712800"/>
          </a:xfrm>
          <a:prstGeom prst="rect">
            <a:avLst/>
          </a:prstGeom>
          <a:solidFill>
            <a:srgbClr val="ffede5"/>
          </a:solidFill>
          <a:ln w="9525">
            <a:solidFill>
              <a:srgbClr val="e3e6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" name="Text 19"/>
          <p:cNvSpPr/>
          <p:nvPr/>
        </p:nvSpPr>
        <p:spPr>
          <a:xfrm>
            <a:off x="4434840" y="2130480"/>
            <a:ext cx="191988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0b1b33"/>
                </a:solidFill>
                <a:latin typeface="Calibri"/>
                <a:ea typeface="Calibri"/>
              </a:rPr>
              <a:t>2 lidars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Shape 20"/>
          <p:cNvSpPr/>
          <p:nvPr/>
        </p:nvSpPr>
        <p:spPr>
          <a:xfrm>
            <a:off x="6492240" y="2130480"/>
            <a:ext cx="2468520" cy="712800"/>
          </a:xfrm>
          <a:prstGeom prst="rect">
            <a:avLst/>
          </a:prstGeom>
          <a:solidFill>
            <a:srgbClr val="ffede5"/>
          </a:solidFill>
          <a:ln w="9525">
            <a:solidFill>
              <a:srgbClr val="e3e6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" name="Text 21"/>
          <p:cNvSpPr/>
          <p:nvPr/>
        </p:nvSpPr>
        <p:spPr>
          <a:xfrm>
            <a:off x="6629400" y="2130480"/>
            <a:ext cx="219420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0b1b33"/>
                </a:solidFill>
                <a:latin typeface="Calibri"/>
                <a:ea typeface="Calibri"/>
              </a:rPr>
              <a:t>3 turbines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0" name="Shape 22"/>
          <p:cNvSpPr/>
          <p:nvPr/>
        </p:nvSpPr>
        <p:spPr>
          <a:xfrm>
            <a:off x="8961120" y="2130480"/>
            <a:ext cx="2742840" cy="712800"/>
          </a:xfrm>
          <a:prstGeom prst="rect">
            <a:avLst/>
          </a:prstGeom>
          <a:solidFill>
            <a:srgbClr val="ffede5"/>
          </a:solidFill>
          <a:ln w="9525">
            <a:solidFill>
              <a:srgbClr val="e3e6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" name="Text 23"/>
          <p:cNvSpPr/>
          <p:nvPr/>
        </p:nvSpPr>
        <p:spPr>
          <a:xfrm>
            <a:off x="9098280" y="2130480"/>
            <a:ext cx="246852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0b1b33"/>
                </a:solidFill>
                <a:latin typeface="Calibri"/>
                <a:ea typeface="Calibri"/>
              </a:rPr>
              <a:t>PID_Altitude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2" name="Shape 24"/>
          <p:cNvSpPr/>
          <p:nvPr/>
        </p:nvSpPr>
        <p:spPr>
          <a:xfrm>
            <a:off x="457200" y="2843640"/>
            <a:ext cx="2011320" cy="712800"/>
          </a:xfrm>
          <a:prstGeom prst="rect">
            <a:avLst/>
          </a:prstGeom>
          <a:solidFill>
            <a:srgbClr val="f1f1f3"/>
          </a:solidFill>
          <a:ln w="9525">
            <a:solidFill>
              <a:srgbClr val="e3e6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3" name="Text 25"/>
          <p:cNvSpPr/>
          <p:nvPr/>
        </p:nvSpPr>
        <p:spPr>
          <a:xfrm>
            <a:off x="594360" y="2843640"/>
            <a:ext cx="173700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0b1b33"/>
                </a:solidFill>
                <a:latin typeface="Calibri"/>
                <a:ea typeface="Calibri"/>
              </a:rPr>
              <a:t>φ (roulis)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Shape 26"/>
          <p:cNvSpPr/>
          <p:nvPr/>
        </p:nvSpPr>
        <p:spPr>
          <a:xfrm>
            <a:off x="2468880" y="2843640"/>
            <a:ext cx="1828440" cy="712800"/>
          </a:xfrm>
          <a:prstGeom prst="rect">
            <a:avLst/>
          </a:prstGeom>
          <a:solidFill>
            <a:srgbClr val="f1f1f3"/>
          </a:solidFill>
          <a:ln w="9525">
            <a:solidFill>
              <a:srgbClr val="e3e6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5" name="Text 27"/>
          <p:cNvSpPr/>
          <p:nvPr/>
        </p:nvSpPr>
        <p:spPr>
          <a:xfrm>
            <a:off x="2606040" y="2843640"/>
            <a:ext cx="155412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0b1b33"/>
                </a:solidFill>
                <a:latin typeface="Calibri"/>
                <a:ea typeface="Calibri"/>
              </a:rPr>
              <a:t>0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6" name="Shape 28"/>
          <p:cNvSpPr/>
          <p:nvPr/>
        </p:nvSpPr>
        <p:spPr>
          <a:xfrm>
            <a:off x="4297680" y="2843640"/>
            <a:ext cx="2194200" cy="712800"/>
          </a:xfrm>
          <a:prstGeom prst="rect">
            <a:avLst/>
          </a:prstGeom>
          <a:solidFill>
            <a:srgbClr val="f1f1f3"/>
          </a:solidFill>
          <a:ln w="9525">
            <a:solidFill>
              <a:srgbClr val="e3e6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Text 29"/>
          <p:cNvSpPr/>
          <p:nvPr/>
        </p:nvSpPr>
        <p:spPr>
          <a:xfrm>
            <a:off x="4434840" y="2843640"/>
            <a:ext cx="191988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0b1b33"/>
                </a:solidFill>
                <a:latin typeface="Calibri"/>
                <a:ea typeface="Calibri"/>
              </a:rPr>
              <a:t>IMU Xsens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Shape 30"/>
          <p:cNvSpPr/>
          <p:nvPr/>
        </p:nvSpPr>
        <p:spPr>
          <a:xfrm>
            <a:off x="6492240" y="2843640"/>
            <a:ext cx="2468520" cy="712800"/>
          </a:xfrm>
          <a:prstGeom prst="rect">
            <a:avLst/>
          </a:prstGeom>
          <a:solidFill>
            <a:srgbClr val="f1f1f3"/>
          </a:solidFill>
          <a:ln w="9525">
            <a:solidFill>
              <a:srgbClr val="e3e6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9" name="Text 31"/>
          <p:cNvSpPr/>
          <p:nvPr/>
        </p:nvSpPr>
        <p:spPr>
          <a:xfrm>
            <a:off x="6629400" y="2843640"/>
            <a:ext cx="219420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0b1b33"/>
                </a:solidFill>
                <a:latin typeface="Calibri"/>
                <a:ea typeface="Calibri"/>
              </a:rPr>
              <a:t>turbines (diff.)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Shape 32"/>
          <p:cNvSpPr/>
          <p:nvPr/>
        </p:nvSpPr>
        <p:spPr>
          <a:xfrm>
            <a:off x="8961120" y="2843640"/>
            <a:ext cx="2742840" cy="712800"/>
          </a:xfrm>
          <a:prstGeom prst="rect">
            <a:avLst/>
          </a:prstGeom>
          <a:solidFill>
            <a:srgbClr val="f1f1f3"/>
          </a:solidFill>
          <a:ln w="9525">
            <a:solidFill>
              <a:srgbClr val="e3e6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1" name="Text 33"/>
          <p:cNvSpPr/>
          <p:nvPr/>
        </p:nvSpPr>
        <p:spPr>
          <a:xfrm>
            <a:off x="9098280" y="2843640"/>
            <a:ext cx="246852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0b1b33"/>
                </a:solidFill>
                <a:latin typeface="Calibri"/>
                <a:ea typeface="Calibri"/>
              </a:rPr>
              <a:t>PID_Roll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2" name="Shape 34"/>
          <p:cNvSpPr/>
          <p:nvPr/>
        </p:nvSpPr>
        <p:spPr>
          <a:xfrm>
            <a:off x="457200" y="3557160"/>
            <a:ext cx="2011320" cy="7128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" name="Text 35"/>
          <p:cNvSpPr/>
          <p:nvPr/>
        </p:nvSpPr>
        <p:spPr>
          <a:xfrm>
            <a:off x="594360" y="3557160"/>
            <a:ext cx="173700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0b1b33"/>
                </a:solidFill>
                <a:latin typeface="Calibri"/>
                <a:ea typeface="Calibri"/>
              </a:rPr>
              <a:t>θ (tangage)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4" name="Shape 36"/>
          <p:cNvSpPr/>
          <p:nvPr/>
        </p:nvSpPr>
        <p:spPr>
          <a:xfrm>
            <a:off x="2468880" y="3557160"/>
            <a:ext cx="1828440" cy="7128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5" name="Text 37"/>
          <p:cNvSpPr/>
          <p:nvPr/>
        </p:nvSpPr>
        <p:spPr>
          <a:xfrm>
            <a:off x="2606040" y="3557160"/>
            <a:ext cx="155412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0b1b33"/>
                </a:solidFill>
                <a:latin typeface="Calibri"/>
                <a:ea typeface="Calibri"/>
              </a:rPr>
              <a:t>0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6" name="Shape 38"/>
          <p:cNvSpPr/>
          <p:nvPr/>
        </p:nvSpPr>
        <p:spPr>
          <a:xfrm>
            <a:off x="4297680" y="3557160"/>
            <a:ext cx="2194200" cy="7128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7" name="Text 39"/>
          <p:cNvSpPr/>
          <p:nvPr/>
        </p:nvSpPr>
        <p:spPr>
          <a:xfrm>
            <a:off x="4434840" y="3557160"/>
            <a:ext cx="191988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0b1b33"/>
                </a:solidFill>
                <a:latin typeface="Calibri"/>
                <a:ea typeface="Calibri"/>
              </a:rPr>
              <a:t>IMU Xsens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8" name="Shape 40"/>
          <p:cNvSpPr/>
          <p:nvPr/>
        </p:nvSpPr>
        <p:spPr>
          <a:xfrm>
            <a:off x="6492240" y="3557160"/>
            <a:ext cx="2468520" cy="7128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" name="Text 41"/>
          <p:cNvSpPr/>
          <p:nvPr/>
        </p:nvSpPr>
        <p:spPr>
          <a:xfrm>
            <a:off x="6629400" y="3557160"/>
            <a:ext cx="219420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0b1b33"/>
                </a:solidFill>
                <a:latin typeface="Calibri"/>
                <a:ea typeface="Calibri"/>
              </a:rPr>
              <a:t>plateau 1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0" name="Shape 42"/>
          <p:cNvSpPr/>
          <p:nvPr/>
        </p:nvSpPr>
        <p:spPr>
          <a:xfrm>
            <a:off x="8961120" y="3557160"/>
            <a:ext cx="2742840" cy="7128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1" name="Text 43"/>
          <p:cNvSpPr/>
          <p:nvPr/>
        </p:nvSpPr>
        <p:spPr>
          <a:xfrm>
            <a:off x="9098280" y="3557160"/>
            <a:ext cx="246852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0b1b33"/>
                </a:solidFill>
                <a:latin typeface="Calibri"/>
                <a:ea typeface="Calibri"/>
              </a:rPr>
              <a:t>PID_Pitch + servo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2" name="Shape 44"/>
          <p:cNvSpPr/>
          <p:nvPr/>
        </p:nvSpPr>
        <p:spPr>
          <a:xfrm>
            <a:off x="457200" y="4270320"/>
            <a:ext cx="2011320" cy="712800"/>
          </a:xfrm>
          <a:prstGeom prst="rect">
            <a:avLst/>
          </a:prstGeom>
          <a:solidFill>
            <a:srgbClr val="f1f1f3"/>
          </a:solidFill>
          <a:ln w="9525">
            <a:solidFill>
              <a:srgbClr val="e3e6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3" name="Text 45"/>
          <p:cNvSpPr/>
          <p:nvPr/>
        </p:nvSpPr>
        <p:spPr>
          <a:xfrm>
            <a:off x="594360" y="4270320"/>
            <a:ext cx="173700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0b1b33"/>
                </a:solidFill>
                <a:latin typeface="Calibri"/>
                <a:ea typeface="Calibri"/>
              </a:rPr>
              <a:t>ψ (lacet)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4" name="Shape 46"/>
          <p:cNvSpPr/>
          <p:nvPr/>
        </p:nvSpPr>
        <p:spPr>
          <a:xfrm>
            <a:off x="2468880" y="4270320"/>
            <a:ext cx="1828440" cy="712800"/>
          </a:xfrm>
          <a:prstGeom prst="rect">
            <a:avLst/>
          </a:prstGeom>
          <a:solidFill>
            <a:srgbClr val="f1f1f3"/>
          </a:solidFill>
          <a:ln w="9525">
            <a:solidFill>
              <a:srgbClr val="e3e6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Text 47"/>
          <p:cNvSpPr/>
          <p:nvPr/>
        </p:nvSpPr>
        <p:spPr>
          <a:xfrm>
            <a:off x="2606040" y="4270320"/>
            <a:ext cx="155412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0b1b33"/>
                </a:solidFill>
                <a:latin typeface="Calibri"/>
                <a:ea typeface="Calibri"/>
              </a:rPr>
              <a:t>0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6" name="Shape 48"/>
          <p:cNvSpPr/>
          <p:nvPr/>
        </p:nvSpPr>
        <p:spPr>
          <a:xfrm>
            <a:off x="4297680" y="4270320"/>
            <a:ext cx="2194200" cy="712800"/>
          </a:xfrm>
          <a:prstGeom prst="rect">
            <a:avLst/>
          </a:prstGeom>
          <a:solidFill>
            <a:srgbClr val="f1f1f3"/>
          </a:solidFill>
          <a:ln w="9525">
            <a:solidFill>
              <a:srgbClr val="e3e6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7" name="Text 49"/>
          <p:cNvSpPr/>
          <p:nvPr/>
        </p:nvSpPr>
        <p:spPr>
          <a:xfrm>
            <a:off x="4434840" y="4270320"/>
            <a:ext cx="191988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0b1b33"/>
                </a:solidFill>
                <a:latin typeface="Calibri"/>
                <a:ea typeface="Calibri"/>
              </a:rPr>
              <a:t>IMU Xsens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8" name="Shape 50"/>
          <p:cNvSpPr/>
          <p:nvPr/>
        </p:nvSpPr>
        <p:spPr>
          <a:xfrm>
            <a:off x="6492240" y="4270320"/>
            <a:ext cx="2468520" cy="712800"/>
          </a:xfrm>
          <a:prstGeom prst="rect">
            <a:avLst/>
          </a:prstGeom>
          <a:solidFill>
            <a:srgbClr val="f1f1f3"/>
          </a:solidFill>
          <a:ln w="9525">
            <a:solidFill>
              <a:srgbClr val="e3e6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9" name="Text 51"/>
          <p:cNvSpPr/>
          <p:nvPr/>
        </p:nvSpPr>
        <p:spPr>
          <a:xfrm>
            <a:off x="6629400" y="4270320"/>
            <a:ext cx="219420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0b1b33"/>
                </a:solidFill>
                <a:latin typeface="Calibri"/>
                <a:ea typeface="Calibri"/>
              </a:rPr>
              <a:t>plateau 2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0" name="Shape 52"/>
          <p:cNvSpPr/>
          <p:nvPr/>
        </p:nvSpPr>
        <p:spPr>
          <a:xfrm>
            <a:off x="8961120" y="4270320"/>
            <a:ext cx="2742840" cy="712800"/>
          </a:xfrm>
          <a:prstGeom prst="rect">
            <a:avLst/>
          </a:prstGeom>
          <a:solidFill>
            <a:srgbClr val="f1f1f3"/>
          </a:solidFill>
          <a:ln w="9525">
            <a:solidFill>
              <a:srgbClr val="e3e6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1" name="Text 53"/>
          <p:cNvSpPr/>
          <p:nvPr/>
        </p:nvSpPr>
        <p:spPr>
          <a:xfrm>
            <a:off x="9098280" y="4270320"/>
            <a:ext cx="246852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0b1b33"/>
                </a:solidFill>
                <a:latin typeface="Calibri"/>
                <a:ea typeface="Calibri"/>
              </a:rPr>
              <a:t>PID_Yaw + servo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2" name="Shape 54"/>
          <p:cNvSpPr/>
          <p:nvPr/>
        </p:nvSpPr>
        <p:spPr>
          <a:xfrm>
            <a:off x="457200" y="4983480"/>
            <a:ext cx="2011320" cy="7128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3" name="Text 55"/>
          <p:cNvSpPr/>
          <p:nvPr/>
        </p:nvSpPr>
        <p:spPr>
          <a:xfrm>
            <a:off x="594360" y="4983480"/>
            <a:ext cx="173700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0b1b33"/>
                </a:solidFill>
                <a:latin typeface="Calibri"/>
                <a:ea typeface="Calibri"/>
              </a:rPr>
              <a:t>x, y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4" name="Shape 56"/>
          <p:cNvSpPr/>
          <p:nvPr/>
        </p:nvSpPr>
        <p:spPr>
          <a:xfrm>
            <a:off x="2468880" y="4983480"/>
            <a:ext cx="1828440" cy="7128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5" name="Text 57"/>
          <p:cNvSpPr/>
          <p:nvPr/>
        </p:nvSpPr>
        <p:spPr>
          <a:xfrm>
            <a:off x="2606040" y="4983480"/>
            <a:ext cx="155412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0b1b33"/>
                </a:solidFill>
                <a:latin typeface="Calibri"/>
                <a:ea typeface="Calibri"/>
              </a:rPr>
              <a:t>0 (indirect)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6" name="Shape 58"/>
          <p:cNvSpPr/>
          <p:nvPr/>
        </p:nvSpPr>
        <p:spPr>
          <a:xfrm>
            <a:off x="4297680" y="4983480"/>
            <a:ext cx="2194200" cy="7128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7" name="Text 59"/>
          <p:cNvSpPr/>
          <p:nvPr/>
        </p:nvSpPr>
        <p:spPr>
          <a:xfrm>
            <a:off x="4434840" y="4983480"/>
            <a:ext cx="191988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0b1b33"/>
                </a:solidFill>
                <a:latin typeface="Calibri"/>
                <a:ea typeface="Calibri"/>
              </a:rPr>
              <a:t>—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8" name="Shape 60"/>
          <p:cNvSpPr/>
          <p:nvPr/>
        </p:nvSpPr>
        <p:spPr>
          <a:xfrm>
            <a:off x="6492240" y="4983480"/>
            <a:ext cx="2468520" cy="7128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9" name="Text 61"/>
          <p:cNvSpPr/>
          <p:nvPr/>
        </p:nvSpPr>
        <p:spPr>
          <a:xfrm>
            <a:off x="6629400" y="4983480"/>
            <a:ext cx="219420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0b1b33"/>
                </a:solidFill>
                <a:latin typeface="Calibri"/>
                <a:ea typeface="Calibri"/>
              </a:rPr>
              <a:t>—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0" name="Shape 62"/>
          <p:cNvSpPr/>
          <p:nvPr/>
        </p:nvSpPr>
        <p:spPr>
          <a:xfrm>
            <a:off x="8961120" y="4983480"/>
            <a:ext cx="2742840" cy="7128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1" name="Text 63"/>
          <p:cNvSpPr/>
          <p:nvPr/>
        </p:nvSpPr>
        <p:spPr>
          <a:xfrm>
            <a:off x="9098280" y="4983480"/>
            <a:ext cx="246852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0b1b33"/>
                </a:solidFill>
                <a:latin typeface="Calibri"/>
                <a:ea typeface="Calibri"/>
              </a:rPr>
              <a:t>conséquence de φ=θ=0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2" name="Text 64"/>
          <p:cNvSpPr/>
          <p:nvPr/>
        </p:nvSpPr>
        <p:spPr>
          <a:xfrm>
            <a:off x="11457360" y="640080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b0b6c3"/>
                </a:solidFill>
                <a:latin typeface="Calibri"/>
                <a:ea typeface="Calibri"/>
              </a:rPr>
              <a:t>9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Text 11"/>
          <p:cNvSpPr/>
          <p:nvPr/>
        </p:nvSpPr>
        <p:spPr>
          <a:xfrm>
            <a:off x="640080" y="4892040"/>
            <a:ext cx="109724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000" spc="-1" strike="noStrike">
                <a:solidFill>
                  <a:srgbClr val="ffffff"/>
                </a:solidFill>
                <a:latin typeface="Cambria"/>
                <a:ea typeface="Cambria"/>
              </a:rPr>
              <a:t>Questions ?</a:t>
            </a:r>
            <a:endParaRPr b="0" lang="en-US" sz="4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4" name="Text 12"/>
          <p:cNvSpPr/>
          <p:nvPr/>
        </p:nvSpPr>
        <p:spPr>
          <a:xfrm>
            <a:off x="640080" y="5623560"/>
            <a:ext cx="10972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9fb2d6"/>
                </a:solidFill>
                <a:latin typeface="Calibri"/>
                <a:ea typeface="Calibri"/>
              </a:rPr>
              <a:t>Un seul axe commandé (Z) — cinq axes stabilisés à zéro.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2026-09-28T23:53:18Z</dcterms:created>
  <dc:creator>Walnut Exporter</dc:creator>
  <dc:description/>
  <dc:language>en-US</dc:language>
  <cp:lastModifiedBy/>
  <dcterms:modified xsi:type="dcterms:W3CDTF">2026-09-29T02:00:32Z</dcterms:modified>
  <cp:revision>1</cp:revision>
  <dc:subject/>
  <dc:title>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Converted Presentation</vt:lpwstr>
  </property>
</Properties>
</file>